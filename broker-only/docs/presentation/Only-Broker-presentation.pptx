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Broker is a broker-first real-estate platform. Unlike portals that are built around listings or around cutting the broker out, we give the broker the tools to run their whole business — flats, customers, site visits, staff — and we bring owners and customers to them. We start with rentals in Thane West; sales (new and resale) are already in the 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everyday pains. Brokers are the ones who close deals, yet portals treat them as a cost to remove. Their inventory is scattered and duplicated, their customers mostly offline, and site visits are inefficient. Every one of these is what Only Broker is designed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ride-hailing, where the driver is the hero. Here the broker is the driver. Owners and customers are brought to brokers, and a small ops team keeps the data clean. Everything sits on one clean universe of real buildings — that is the foundation competitors don't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came from founder decisions and they are built into the product, not just policy. The first one matters most for broker trust: the platform never takes a flat or a customer from one broker and gives it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broker's daily home. Everything is in one place: leads, visits, their own flats and their own customers. Adding a flat takes about ten taps; brokers with Excel sheets can upload them and we match their spellings to real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first moat. Portals let anyone type anything, so the same building exists many times and data rots. We keep a closed universe: every flat belongs to one real building, wing and floor. Mistakes are caught at entry, and every correction teaches the system. The longer we run, the cleaner the data gets — hard for a competitor to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brokers may hold the same flat, but there is one physical flat and one truth about it. The owner confirms status from a WhatsApp link. When any broker marks it rented, the others are warned so nobody wastes a visit. Our attribute dictionary has 200 fields but a broker only needs 17 to list a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respects the broker's ownership: it only looks at their own flats. Each result explains itself with green, red and amber chips, so a broker can trust it and explain it to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Brokers keep using their own judgement — they can type a society and flat number and add it straight to the route. The system then does the boring work: routing, notifying owners, sending the customer a confirmation link, and assigning field staff, whose app works even without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customers are offline. We don't force an app on them: every step — shortlist, visit confirmation, consent, review — works from a private link on WhatsApp or SMS. Their responses flow straight into the broker's customer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Brokers have two assets: flats and customers. Broadcasts make the customer list valuable — one message reaches everyone. Customers who aren't on the app yet get a WhatsApp invite, so the more a broker broadcasts, the more of their offline customers join. That's a built-in growth engine, and it makes brokers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get a simple, powerful control: a tick box. A broker only receives an owner's flat after the owner ticks "Allow this broker to handle my property", and unticking removes them — the owner's decision is final. Owners can also see who is handling the flat, call them, and review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Photos belong to the flat, not to one broker, so there's one good set instead of ten bad ones. Owners and the brokers they allow can upload; nothing a broker uploads goes live until the owner approves. Customers see live photos on their shortlist, but never the flat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brokers depend on the app, we switch on the marketplace. A customer posts one enquiry and every relevant broker nearby gets it — like a ride request. Brokers compete on terms, rating and response time. The pieces are already built; we switch them on after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Brokers will only put their business on a platform they trust. Isolation between brokers is enforced by the database, not just the app, and it is tested automatically. Every change is audited in a tamper-evident log. Consent and encryption keep us ready for the DPDP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moats. Clean data that compounds with use. Lock-in, because brokers' flats and customers live here. Owner trust through the tick and reviews. A growth loop through WhatsApp links and broadcasts. And trust built in from the start — isolation, audit and consent — which is expensive for anyone else to retrofit.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Brokers pay because the app saves them time and makes them money. Subscription is the core; broadcasts and messages are a natural usage-based add-on; marketplace leads come later. Pricing is still to be decided — the pilot is free and will tell us willingness to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 built and tested: broker, field staff, owner and customer modes, the link pages, the ops console and the data checks. We are now cleaning Thane West data with the pilot broker. Next, the pilot broker moves onto the real app on a server with real SMS and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workstreams for the next 90 days: clean Thane West data, put the pilot broker on the live app, switch on real SMS and WhatsApp, and measure the pilot so we can set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you the app itself. Every login uses OTP 123456 in the demo. I'll start as the broker, then switch to the owner and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43"/>
        </a:solidFill>
      </p:bgPr>
    </p:bg>
    <p:spTree>
      <p:nvGrpSpPr>
        <p:cNvPr id="1" name=""/>
        <p:cNvGrpSpPr/>
        <p:nvPr/>
      </p:nvGrpSpPr>
      <p:grpSpPr>
        <a:xfrm>
          <a:off x="0" y="0"/>
          <a:ext cx="0" cy="0"/>
          <a:chOff x="0" y="0"/>
          <a:chExt cx="0" cy="0"/>
        </a:xfrm>
      </p:grpSpPr>
      <p:sp>
        <p:nvSpPr>
          <p:cNvPr id="2" name="Text 0"/>
          <p:cNvSpPr txBox="1"/>
          <p:nvPr/>
        </p:nvSpPr>
        <p:spPr>
          <a:xfrm>
            <a:off x="548640" y="1143000"/>
            <a:ext cx="438912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Only Broker</a:t>
            </a:r>
            <a:endParaRPr lang="en-US" sz="4600" dirty="0"/>
          </a:p>
        </p:txBody>
      </p:sp>
      <p:sp>
        <p:nvSpPr>
          <p:cNvPr id="3" name="Text 1"/>
          <p:cNvSpPr txBox="1"/>
          <p:nvPr/>
        </p:nvSpPr>
        <p:spPr>
          <a:xfrm>
            <a:off x="548640" y="2011680"/>
            <a:ext cx="4206240" cy="822960"/>
          </a:xfrm>
          <a:prstGeom prst="rect">
            <a:avLst/>
          </a:prstGeom>
          <a:noFill/>
          <a:ln/>
        </p:spPr>
        <p:txBody>
          <a:bodyPr wrap="square" lIns="0" tIns="0" rIns="0" bIns="0" rtlCol="0" anchor="ctr"/>
          <a:lstStyle/>
          <a:p>
            <a:pPr indent="0" marL="0">
              <a:buNone/>
            </a:pPr>
            <a:r>
              <a:rPr lang="en-US" sz="1800" dirty="0">
                <a:solidFill>
                  <a:srgbClr val="DCEBE8"/>
                </a:solidFill>
                <a:latin typeface="Calibri" pitchFamily="34" charset="0"/>
                <a:ea typeface="Calibri" pitchFamily="34" charset="-122"/>
                <a:cs typeface="Calibri" pitchFamily="34" charset="-120"/>
              </a:rPr>
              <a:t>The broker’s operating system for India’s metro rental and resale market</a:t>
            </a:r>
            <a:endParaRPr lang="en-US" sz="1800" dirty="0"/>
          </a:p>
        </p:txBody>
      </p:sp>
      <p:sp>
        <p:nvSpPr>
          <p:cNvPr id="4" name="Text 2"/>
          <p:cNvSpPr txBox="1"/>
          <p:nvPr/>
        </p:nvSpPr>
        <p:spPr>
          <a:xfrm>
            <a:off x="548640" y="3063240"/>
            <a:ext cx="420624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Flats · Customers · Site visits · Owners — in one app</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Rentals first, sales built in · Pilot: Thane West, MMR</a:t>
            </a:r>
            <a:endParaRPr lang="en-US" sz="1300" dirty="0"/>
          </a:p>
        </p:txBody>
      </p:sp>
      <p:sp>
        <p:nvSpPr>
          <p:cNvPr id="5" name="Text 3"/>
          <p:cNvSpPr txBox="1"/>
          <p:nvPr/>
        </p:nvSpPr>
        <p:spPr>
          <a:xfrm>
            <a:off x="548640" y="4343400"/>
            <a:ext cx="2743200" cy="274320"/>
          </a:xfrm>
          <a:prstGeom prst="rect">
            <a:avLst/>
          </a:prstGeom>
          <a:noFill/>
          <a:ln/>
        </p:spPr>
        <p:txBody>
          <a:bodyPr wrap="square" lIns="0" tIns="0" rIns="0" bIns="0" rtlCol="0" anchor="ctr"/>
          <a:lstStyle/>
          <a:p>
            <a:pPr indent="0" marL="0">
              <a:buNone/>
            </a:pPr>
            <a:r>
              <a:rPr lang="en-US" sz="1100" dirty="0">
                <a:solidFill>
                  <a:srgbClr val="E8A33D"/>
                </a:solidFill>
                <a:latin typeface="Calibri" pitchFamily="34" charset="0"/>
                <a:ea typeface="Calibri" pitchFamily="34" charset="-122"/>
                <a:cs typeface="Calibri" pitchFamily="34" charset="-120"/>
              </a:rPr>
              <a:t>September 2026</a:t>
            </a:r>
            <a:endParaRPr lang="en-US" sz="1100" dirty="0"/>
          </a:p>
        </p:txBody>
      </p:sp>
      <p:sp>
        <p:nvSpPr>
          <p:cNvPr id="6" name="Shape 4"/>
          <p:cNvSpPr/>
          <p:nvPr/>
        </p:nvSpPr>
        <p:spPr>
          <a:xfrm>
            <a:off x="5020056" y="448056"/>
            <a:ext cx="2167128" cy="4224528"/>
          </a:xfrm>
          <a:prstGeom prst="roundRect">
            <a:avLst>
              <a:gd name="adj" fmla="val 5907"/>
            </a:avLst>
          </a:prstGeom>
          <a:solidFill>
            <a:srgbClr val="15201F"/>
          </a:solidFill>
          <a:ln/>
          <a:effectLst>
            <a:outerShdw sx="100000" sy="100000" kx="0" ky="0" algn="bl" rotWithShape="0" blurRad="101600" dist="38100" dir="5400000">
              <a:srgbClr val="000000">
                <a:alpha val="25000"/>
              </a:srgbClr>
            </a:outerShdw>
          </a:effectLst>
        </p:spPr>
      </p:sp>
      <p:pic>
        <p:nvPicPr>
          <p:cNvPr id="7" name="Image 0" descr="/tmp/claude-0/-home-user-SocietyManagement/f8f5daac-a2c6-5a71-ae45-d4f3c625db39/scratchpad/deck/img/today.jpg">    </p:cNvPr>
          <p:cNvPicPr>
            <a:picLocks noChangeAspect="1"/>
          </p:cNvPicPr>
          <p:nvPr/>
        </p:nvPicPr>
        <p:blipFill>
          <a:blip r:embed="rId1"/>
          <a:stretch>
            <a:fillRect/>
          </a:stretch>
        </p:blipFill>
        <p:spPr>
          <a:xfrm>
            <a:off x="5074920" y="502920"/>
            <a:ext cx="2057400" cy="4114800"/>
          </a:xfrm>
          <a:prstGeom prst="rect">
            <a:avLst/>
          </a:prstGeom>
        </p:spPr>
      </p:pic>
      <p:sp>
        <p:nvSpPr>
          <p:cNvPr id="8" name="Shape 5"/>
          <p:cNvSpPr/>
          <p:nvPr/>
        </p:nvSpPr>
        <p:spPr>
          <a:xfrm>
            <a:off x="7031736" y="448056"/>
            <a:ext cx="2167128" cy="4224528"/>
          </a:xfrm>
          <a:prstGeom prst="roundRect">
            <a:avLst>
              <a:gd name="adj" fmla="val 5907"/>
            </a:avLst>
          </a:prstGeom>
          <a:solidFill>
            <a:srgbClr val="15201F"/>
          </a:solidFill>
          <a:ln/>
          <a:effectLst>
            <a:outerShdw sx="100000" sy="100000" kx="0" ky="0" algn="bl" rotWithShape="0" blurRad="101600" dist="38100" dir="5400000">
              <a:srgbClr val="000000">
                <a:alpha val="25000"/>
              </a:srgbClr>
            </a:outerShdw>
          </a:effectLst>
        </p:spPr>
      </p:sp>
      <p:pic>
        <p:nvPicPr>
          <p:cNvPr id="9" name="Image 1" descr="/tmp/claude-0/-home-user-SocietyManagement/f8f5daac-a2c6-5a71-ae45-d4f3c625db39/scratchpad/deck/img/oflat.jpg">    </p:cNvPr>
          <p:cNvPicPr>
            <a:picLocks noChangeAspect="1"/>
          </p:cNvPicPr>
          <p:nvPr/>
        </p:nvPicPr>
        <p:blipFill>
          <a:blip r:embed="rId2"/>
          <a:stretch>
            <a:fillRect/>
          </a:stretch>
        </p:blipFill>
        <p:spPr>
          <a:xfrm>
            <a:off x="7086600" y="502920"/>
            <a:ext cx="2057400" cy="4114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Brokers run rentals on notebooks and WhatsApp</a:t>
            </a:r>
            <a:endParaRPr lang="en-US" sz="2500" dirty="0"/>
          </a:p>
        </p:txBody>
      </p:sp>
      <p:sp>
        <p:nvSpPr>
          <p:cNvPr id="3" name="Shape 1"/>
          <p:cNvSpPr/>
          <p:nvPr/>
        </p:nvSpPr>
        <p:spPr>
          <a:xfrm>
            <a:off x="457200" y="1234440"/>
            <a:ext cx="4023360" cy="1600200"/>
          </a:xfrm>
          <a:prstGeom prst="roundRect">
            <a:avLst>
              <a:gd name="adj" fmla="val 4571"/>
            </a:avLst>
          </a:prstGeom>
          <a:solidFill>
            <a:srgbClr val="FFFFFF"/>
          </a:solidFill>
          <a:ln w="9525">
            <a:solidFill>
              <a:srgbClr val="DCE2DF"/>
            </a:solidFill>
            <a:prstDash val="solid"/>
          </a:ln>
        </p:spPr>
      </p:sp>
      <p:sp>
        <p:nvSpPr>
          <p:cNvPr id="4" name="Shape 2"/>
          <p:cNvSpPr/>
          <p:nvPr/>
        </p:nvSpPr>
        <p:spPr>
          <a:xfrm>
            <a:off x="685800" y="1508760"/>
            <a:ext cx="548640" cy="548640"/>
          </a:xfrm>
          <a:prstGeom prst="ellipse">
            <a:avLst/>
          </a:prstGeom>
          <a:solidFill>
            <a:srgbClr val="0E3B43"/>
          </a:solidFill>
          <a:ln/>
        </p:spPr>
      </p:sp>
      <p:pic>
        <p:nvPicPr>
          <p:cNvPr id="5" name="Image 0" descr="preencoded.png">    </p:cNvPr>
          <p:cNvPicPr>
            <a:picLocks noChangeAspect="1"/>
          </p:cNvPicPr>
          <p:nvPr/>
        </p:nvPicPr>
        <p:blipFill>
          <a:blip r:embed="rId1"/>
          <a:stretch>
            <a:fillRect/>
          </a:stretch>
        </p:blipFill>
        <p:spPr>
          <a:xfrm>
            <a:off x="817474" y="1640434"/>
            <a:ext cx="285293" cy="285293"/>
          </a:xfrm>
          <a:prstGeom prst="rect">
            <a:avLst/>
          </a:prstGeom>
        </p:spPr>
      </p:pic>
      <p:sp>
        <p:nvSpPr>
          <p:cNvPr id="6" name="Text 3"/>
          <p:cNvSpPr txBox="1"/>
          <p:nvPr/>
        </p:nvSpPr>
        <p:spPr>
          <a:xfrm>
            <a:off x="1417320" y="1463040"/>
            <a:ext cx="2880360" cy="365760"/>
          </a:xfrm>
          <a:prstGeom prst="rect">
            <a:avLst/>
          </a:prstGeom>
          <a:noFill/>
          <a:ln/>
        </p:spPr>
        <p:txBody>
          <a:bodyPr wrap="square" lIns="0" tIns="0" rIns="0" bIns="0" rtlCol="0" anchor="ctr"/>
          <a:lstStyle/>
          <a:p>
            <a:pPr indent="0" marL="0">
              <a:buNone/>
            </a:pPr>
            <a:r>
              <a:rPr lang="en-US" sz="1500" b="1" dirty="0">
                <a:solidFill>
                  <a:srgbClr val="15201F"/>
                </a:solidFill>
                <a:latin typeface="Calibri" pitchFamily="34" charset="0"/>
                <a:ea typeface="Calibri" pitchFamily="34" charset="-122"/>
                <a:cs typeface="Calibri" pitchFamily="34" charset="-120"/>
              </a:rPr>
              <a:t>Portals work against brokers</a:t>
            </a:r>
            <a:endParaRPr lang="en-US" sz="1500" dirty="0"/>
          </a:p>
        </p:txBody>
      </p:sp>
      <p:sp>
        <p:nvSpPr>
          <p:cNvPr id="7" name="Text 4"/>
          <p:cNvSpPr txBox="1"/>
          <p:nvPr/>
        </p:nvSpPr>
        <p:spPr>
          <a:xfrm>
            <a:off x="1417320" y="1856232"/>
            <a:ext cx="2880360" cy="868680"/>
          </a:xfrm>
          <a:prstGeom prst="rect">
            <a:avLst/>
          </a:prstGeom>
          <a:noFill/>
          <a:ln/>
        </p:spPr>
        <p:txBody>
          <a:bodyPr wrap="square" lIns="0" tIns="0" rIns="0" bIns="0" rtlCol="0" anchor="t"/>
          <a:lstStyle/>
          <a:p>
            <a:pPr indent="0" marL="0">
              <a:buNone/>
            </a:pPr>
            <a:r>
              <a:rPr lang="en-US" sz="1200" dirty="0">
                <a:solidFill>
                  <a:srgbClr val="5B6866"/>
                </a:solidFill>
                <a:latin typeface="Calibri" pitchFamily="34" charset="0"/>
                <a:ea typeface="Calibri" pitchFamily="34" charset="-122"/>
                <a:cs typeface="Calibri" pitchFamily="34" charset="-120"/>
              </a:rPr>
              <a:t>Built around listings or around cutting the broker out. The person who actually closes the deal is an afterthought.</a:t>
            </a:r>
            <a:endParaRPr lang="en-US" sz="1200" dirty="0"/>
          </a:p>
        </p:txBody>
      </p:sp>
      <p:sp>
        <p:nvSpPr>
          <p:cNvPr id="8" name="Shape 5"/>
          <p:cNvSpPr/>
          <p:nvPr/>
        </p:nvSpPr>
        <p:spPr>
          <a:xfrm>
            <a:off x="4663440" y="1234440"/>
            <a:ext cx="4023360" cy="1600200"/>
          </a:xfrm>
          <a:prstGeom prst="roundRect">
            <a:avLst>
              <a:gd name="adj" fmla="val 4571"/>
            </a:avLst>
          </a:prstGeom>
          <a:solidFill>
            <a:srgbClr val="FFFFFF"/>
          </a:solidFill>
          <a:ln w="9525">
            <a:solidFill>
              <a:srgbClr val="DCE2DF"/>
            </a:solidFill>
            <a:prstDash val="solid"/>
          </a:ln>
        </p:spPr>
      </p:sp>
      <p:sp>
        <p:nvSpPr>
          <p:cNvPr id="9" name="Shape 6"/>
          <p:cNvSpPr/>
          <p:nvPr/>
        </p:nvSpPr>
        <p:spPr>
          <a:xfrm>
            <a:off x="4892040" y="1508760"/>
            <a:ext cx="548640" cy="548640"/>
          </a:xfrm>
          <a:prstGeom prst="ellipse">
            <a:avLst/>
          </a:prstGeom>
          <a:solidFill>
            <a:srgbClr val="0E3B43"/>
          </a:solidFill>
          <a:ln/>
        </p:spPr>
      </p:sp>
      <p:pic>
        <p:nvPicPr>
          <p:cNvPr id="10" name="Image 1" descr="preencoded.png">    </p:cNvPr>
          <p:cNvPicPr>
            <a:picLocks noChangeAspect="1"/>
          </p:cNvPicPr>
          <p:nvPr/>
        </p:nvPicPr>
        <p:blipFill>
          <a:blip r:embed="rId2"/>
          <a:stretch>
            <a:fillRect/>
          </a:stretch>
        </p:blipFill>
        <p:spPr>
          <a:xfrm>
            <a:off x="5023714" y="1640434"/>
            <a:ext cx="285293" cy="285293"/>
          </a:xfrm>
          <a:prstGeom prst="rect">
            <a:avLst/>
          </a:prstGeom>
        </p:spPr>
      </p:pic>
      <p:sp>
        <p:nvSpPr>
          <p:cNvPr id="11" name="Text 7"/>
          <p:cNvSpPr txBox="1"/>
          <p:nvPr/>
        </p:nvSpPr>
        <p:spPr>
          <a:xfrm>
            <a:off x="5623560" y="1463040"/>
            <a:ext cx="2880360" cy="365760"/>
          </a:xfrm>
          <a:prstGeom prst="rect">
            <a:avLst/>
          </a:prstGeom>
          <a:noFill/>
          <a:ln/>
        </p:spPr>
        <p:txBody>
          <a:bodyPr wrap="square" lIns="0" tIns="0" rIns="0" bIns="0" rtlCol="0" anchor="ctr"/>
          <a:lstStyle/>
          <a:p>
            <a:pPr indent="0" marL="0">
              <a:buNone/>
            </a:pPr>
            <a:r>
              <a:rPr lang="en-US" sz="1500" b="1" dirty="0">
                <a:solidFill>
                  <a:srgbClr val="15201F"/>
                </a:solidFill>
                <a:latin typeface="Calibri" pitchFamily="34" charset="0"/>
                <a:ea typeface="Calibri" pitchFamily="34" charset="-122"/>
                <a:cs typeface="Calibri" pitchFamily="34" charset="-120"/>
              </a:rPr>
              <a:t>One flat, five spellings</a:t>
            </a:r>
            <a:endParaRPr lang="en-US" sz="1500" dirty="0"/>
          </a:p>
        </p:txBody>
      </p:sp>
      <p:sp>
        <p:nvSpPr>
          <p:cNvPr id="12" name="Text 8"/>
          <p:cNvSpPr txBox="1"/>
          <p:nvPr/>
        </p:nvSpPr>
        <p:spPr>
          <a:xfrm>
            <a:off x="5623560" y="1856232"/>
            <a:ext cx="2880360" cy="868680"/>
          </a:xfrm>
          <a:prstGeom prst="rect">
            <a:avLst/>
          </a:prstGeom>
          <a:noFill/>
          <a:ln/>
        </p:spPr>
        <p:txBody>
          <a:bodyPr wrap="square" lIns="0" tIns="0" rIns="0" bIns="0" rtlCol="0" anchor="t"/>
          <a:lstStyle/>
          <a:p>
            <a:pPr indent="0" marL="0">
              <a:buNone/>
            </a:pPr>
            <a:r>
              <a:rPr lang="en-US" sz="1200" dirty="0">
                <a:solidFill>
                  <a:srgbClr val="5B6866"/>
                </a:solidFill>
                <a:latin typeface="Calibri" pitchFamily="34" charset="0"/>
                <a:ea typeface="Calibri" pitchFamily="34" charset="-122"/>
                <a:cs typeface="Calibri" pitchFamily="34" charset="-120"/>
              </a:rPr>
              <a:t>“Hiranandani Est.”, “HE Thane”, “Hira Nandani”… Duplicates everywhere, and “available” is often weeks out of date.</a:t>
            </a:r>
            <a:endParaRPr lang="en-US" sz="1200" dirty="0"/>
          </a:p>
        </p:txBody>
      </p:sp>
      <p:sp>
        <p:nvSpPr>
          <p:cNvPr id="13" name="Shape 9"/>
          <p:cNvSpPr/>
          <p:nvPr/>
        </p:nvSpPr>
        <p:spPr>
          <a:xfrm>
            <a:off x="457200" y="3017520"/>
            <a:ext cx="4023360" cy="1600200"/>
          </a:xfrm>
          <a:prstGeom prst="roundRect">
            <a:avLst>
              <a:gd name="adj" fmla="val 4571"/>
            </a:avLst>
          </a:prstGeom>
          <a:solidFill>
            <a:srgbClr val="FFFFFF"/>
          </a:solidFill>
          <a:ln w="9525">
            <a:solidFill>
              <a:srgbClr val="DCE2DF"/>
            </a:solidFill>
            <a:prstDash val="solid"/>
          </a:ln>
        </p:spPr>
      </p:sp>
      <p:sp>
        <p:nvSpPr>
          <p:cNvPr id="14" name="Shape 10"/>
          <p:cNvSpPr/>
          <p:nvPr/>
        </p:nvSpPr>
        <p:spPr>
          <a:xfrm>
            <a:off x="685800" y="3291840"/>
            <a:ext cx="548640" cy="548640"/>
          </a:xfrm>
          <a:prstGeom prst="ellipse">
            <a:avLst/>
          </a:prstGeom>
          <a:solidFill>
            <a:srgbClr val="0E3B43"/>
          </a:solidFill>
          <a:ln/>
        </p:spPr>
      </p:sp>
      <p:pic>
        <p:nvPicPr>
          <p:cNvPr id="15" name="Image 2" descr="preencoded.png">    </p:cNvPr>
          <p:cNvPicPr>
            <a:picLocks noChangeAspect="1"/>
          </p:cNvPicPr>
          <p:nvPr/>
        </p:nvPicPr>
        <p:blipFill>
          <a:blip r:embed="rId3"/>
          <a:stretch>
            <a:fillRect/>
          </a:stretch>
        </p:blipFill>
        <p:spPr>
          <a:xfrm>
            <a:off x="817474" y="3423514"/>
            <a:ext cx="285293" cy="285293"/>
          </a:xfrm>
          <a:prstGeom prst="rect">
            <a:avLst/>
          </a:prstGeom>
        </p:spPr>
      </p:pic>
      <p:sp>
        <p:nvSpPr>
          <p:cNvPr id="16" name="Text 11"/>
          <p:cNvSpPr txBox="1"/>
          <p:nvPr/>
        </p:nvSpPr>
        <p:spPr>
          <a:xfrm>
            <a:off x="1417320" y="3246120"/>
            <a:ext cx="2880360" cy="365760"/>
          </a:xfrm>
          <a:prstGeom prst="rect">
            <a:avLst/>
          </a:prstGeom>
          <a:noFill/>
          <a:ln/>
        </p:spPr>
        <p:txBody>
          <a:bodyPr wrap="square" lIns="0" tIns="0" rIns="0" bIns="0" rtlCol="0" anchor="ctr"/>
          <a:lstStyle/>
          <a:p>
            <a:pPr indent="0" marL="0">
              <a:buNone/>
            </a:pPr>
            <a:r>
              <a:rPr lang="en-US" sz="1500" b="1" dirty="0">
                <a:solidFill>
                  <a:srgbClr val="15201F"/>
                </a:solidFill>
                <a:latin typeface="Calibri" pitchFamily="34" charset="0"/>
                <a:ea typeface="Calibri" pitchFamily="34" charset="-122"/>
                <a:cs typeface="Calibri" pitchFamily="34" charset="-120"/>
              </a:rPr>
              <a:t>Customers live in notebooks</a:t>
            </a:r>
            <a:endParaRPr lang="en-US" sz="1500" dirty="0"/>
          </a:p>
        </p:txBody>
      </p:sp>
      <p:sp>
        <p:nvSpPr>
          <p:cNvPr id="17" name="Text 12"/>
          <p:cNvSpPr txBox="1"/>
          <p:nvPr/>
        </p:nvSpPr>
        <p:spPr>
          <a:xfrm>
            <a:off x="1417320" y="3639312"/>
            <a:ext cx="2880360" cy="868680"/>
          </a:xfrm>
          <a:prstGeom prst="rect">
            <a:avLst/>
          </a:prstGeom>
          <a:noFill/>
          <a:ln/>
        </p:spPr>
        <p:txBody>
          <a:bodyPr wrap="square" lIns="0" tIns="0" rIns="0" bIns="0" rtlCol="0" anchor="t"/>
          <a:lstStyle/>
          <a:p>
            <a:pPr indent="0" marL="0">
              <a:buNone/>
            </a:pPr>
            <a:r>
              <a:rPr lang="en-US" sz="1200" dirty="0">
                <a:solidFill>
                  <a:srgbClr val="5B6866"/>
                </a:solidFill>
                <a:latin typeface="Calibri" pitchFamily="34" charset="0"/>
                <a:ea typeface="Calibri" pitchFamily="34" charset="-122"/>
                <a:cs typeface="Calibri" pitchFamily="34" charset="-120"/>
              </a:rPr>
              <a:t>Walk-ins and phone calls live in a notebook. No follow-up, no history, no way to reach them all at once.</a:t>
            </a:r>
            <a:endParaRPr lang="en-US" sz="1200" dirty="0"/>
          </a:p>
        </p:txBody>
      </p:sp>
      <p:sp>
        <p:nvSpPr>
          <p:cNvPr id="18" name="Shape 13"/>
          <p:cNvSpPr/>
          <p:nvPr/>
        </p:nvSpPr>
        <p:spPr>
          <a:xfrm>
            <a:off x="4663440" y="3017520"/>
            <a:ext cx="4023360" cy="1600200"/>
          </a:xfrm>
          <a:prstGeom prst="roundRect">
            <a:avLst>
              <a:gd name="adj" fmla="val 4571"/>
            </a:avLst>
          </a:prstGeom>
          <a:solidFill>
            <a:srgbClr val="FFFFFF"/>
          </a:solidFill>
          <a:ln w="9525">
            <a:solidFill>
              <a:srgbClr val="DCE2DF"/>
            </a:solidFill>
            <a:prstDash val="solid"/>
          </a:ln>
        </p:spPr>
      </p:sp>
      <p:sp>
        <p:nvSpPr>
          <p:cNvPr id="19" name="Shape 14"/>
          <p:cNvSpPr/>
          <p:nvPr/>
        </p:nvSpPr>
        <p:spPr>
          <a:xfrm>
            <a:off x="4892040" y="3291840"/>
            <a:ext cx="548640" cy="548640"/>
          </a:xfrm>
          <a:prstGeom prst="ellipse">
            <a:avLst/>
          </a:prstGeom>
          <a:solidFill>
            <a:srgbClr val="0E3B43"/>
          </a:solidFill>
          <a:ln/>
        </p:spPr>
      </p:sp>
      <p:pic>
        <p:nvPicPr>
          <p:cNvPr id="20" name="Image 3" descr="preencoded.png">    </p:cNvPr>
          <p:cNvPicPr>
            <a:picLocks noChangeAspect="1"/>
          </p:cNvPicPr>
          <p:nvPr/>
        </p:nvPicPr>
        <p:blipFill>
          <a:blip r:embed="rId4"/>
          <a:stretch>
            <a:fillRect/>
          </a:stretch>
        </p:blipFill>
        <p:spPr>
          <a:xfrm>
            <a:off x="5023714" y="3423514"/>
            <a:ext cx="285293" cy="285293"/>
          </a:xfrm>
          <a:prstGeom prst="rect">
            <a:avLst/>
          </a:prstGeom>
        </p:spPr>
      </p:pic>
      <p:sp>
        <p:nvSpPr>
          <p:cNvPr id="21" name="Text 15"/>
          <p:cNvSpPr txBox="1"/>
          <p:nvPr/>
        </p:nvSpPr>
        <p:spPr>
          <a:xfrm>
            <a:off x="5623560" y="3246120"/>
            <a:ext cx="2880360" cy="365760"/>
          </a:xfrm>
          <a:prstGeom prst="rect">
            <a:avLst/>
          </a:prstGeom>
          <a:noFill/>
          <a:ln/>
        </p:spPr>
        <p:txBody>
          <a:bodyPr wrap="square" lIns="0" tIns="0" rIns="0" bIns="0" rtlCol="0" anchor="ctr"/>
          <a:lstStyle/>
          <a:p>
            <a:pPr indent="0" marL="0">
              <a:buNone/>
            </a:pPr>
            <a:r>
              <a:rPr lang="en-US" sz="1500" b="1" dirty="0">
                <a:solidFill>
                  <a:srgbClr val="15201F"/>
                </a:solidFill>
                <a:latin typeface="Calibri" pitchFamily="34" charset="0"/>
                <a:ea typeface="Calibri" pitchFamily="34" charset="-122"/>
                <a:cs typeface="Calibri" pitchFamily="34" charset="-120"/>
              </a:rPr>
              <a:t>Site visits are wasted</a:t>
            </a:r>
            <a:endParaRPr lang="en-US" sz="1500" dirty="0"/>
          </a:p>
        </p:txBody>
      </p:sp>
      <p:sp>
        <p:nvSpPr>
          <p:cNvPr id="22" name="Text 16"/>
          <p:cNvSpPr txBox="1"/>
          <p:nvPr/>
        </p:nvSpPr>
        <p:spPr>
          <a:xfrm>
            <a:off x="5623560" y="3639312"/>
            <a:ext cx="2880360" cy="868680"/>
          </a:xfrm>
          <a:prstGeom prst="rect">
            <a:avLst/>
          </a:prstGeom>
          <a:noFill/>
          <a:ln/>
        </p:spPr>
        <p:txBody>
          <a:bodyPr wrap="square" lIns="0" tIns="0" rIns="0" bIns="0" rtlCol="0" anchor="t"/>
          <a:lstStyle/>
          <a:p>
            <a:pPr indent="0" marL="0">
              <a:buNone/>
            </a:pPr>
            <a:r>
              <a:rPr lang="en-US" sz="1200" dirty="0">
                <a:solidFill>
                  <a:srgbClr val="5B6866"/>
                </a:solidFill>
                <a:latin typeface="Calibri" pitchFamily="34" charset="0"/>
                <a:ea typeface="Calibri" pitchFamily="34" charset="-122"/>
                <a:cs typeface="Calibri" pitchFamily="34" charset="-120"/>
              </a:rPr>
              <a:t>Flats already rented get shown, keys go missing, owners aren’t told, routes are guessed.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Built like ride-hailing: the broker is the driver</a:t>
            </a:r>
            <a:endParaRPr lang="en-US" sz="2500" dirty="0"/>
          </a:p>
        </p:txBody>
      </p:sp>
      <p:sp>
        <p:nvSpPr>
          <p:cNvPr id="3" name="Shape 1"/>
          <p:cNvSpPr/>
          <p:nvPr/>
        </p:nvSpPr>
        <p:spPr>
          <a:xfrm>
            <a:off x="457200" y="1234440"/>
            <a:ext cx="1920240" cy="2240280"/>
          </a:xfrm>
          <a:prstGeom prst="roundRect">
            <a:avLst>
              <a:gd name="adj" fmla="val 3810"/>
            </a:avLst>
          </a:prstGeom>
          <a:solidFill>
            <a:srgbClr val="FFFFFF"/>
          </a:solidFill>
          <a:ln w="9525">
            <a:solidFill>
              <a:srgbClr val="DCE2DF"/>
            </a:solidFill>
            <a:prstDash val="solid"/>
          </a:ln>
        </p:spPr>
      </p:sp>
      <p:sp>
        <p:nvSpPr>
          <p:cNvPr id="4" name="Shape 2"/>
          <p:cNvSpPr/>
          <p:nvPr/>
        </p:nvSpPr>
        <p:spPr>
          <a:xfrm>
            <a:off x="1143000" y="1417320"/>
            <a:ext cx="548640" cy="548640"/>
          </a:xfrm>
          <a:prstGeom prst="ellipse">
            <a:avLst/>
          </a:prstGeom>
          <a:solidFill>
            <a:srgbClr val="0E3B43"/>
          </a:solidFill>
          <a:ln/>
        </p:spPr>
      </p:sp>
      <p:pic>
        <p:nvPicPr>
          <p:cNvPr id="5" name="Image 0" descr="preencoded.png">    </p:cNvPr>
          <p:cNvPicPr>
            <a:picLocks noChangeAspect="1"/>
          </p:cNvPicPr>
          <p:nvPr/>
        </p:nvPicPr>
        <p:blipFill>
          <a:blip r:embed="rId1"/>
          <a:stretch>
            <a:fillRect/>
          </a:stretch>
        </p:blipFill>
        <p:spPr>
          <a:xfrm>
            <a:off x="1274674" y="1548994"/>
            <a:ext cx="285293" cy="285293"/>
          </a:xfrm>
          <a:prstGeom prst="rect">
            <a:avLst/>
          </a:prstGeom>
        </p:spPr>
      </p:pic>
      <p:sp>
        <p:nvSpPr>
          <p:cNvPr id="6" name="Text 3"/>
          <p:cNvSpPr txBox="1"/>
          <p:nvPr/>
        </p:nvSpPr>
        <p:spPr>
          <a:xfrm>
            <a:off x="594360" y="2103120"/>
            <a:ext cx="1645920" cy="365760"/>
          </a:xfrm>
          <a:prstGeom prst="rect">
            <a:avLst/>
          </a:prstGeom>
          <a:noFill/>
          <a:ln/>
        </p:spPr>
        <p:txBody>
          <a:bodyPr wrap="square" lIns="0" tIns="0" rIns="0" bIns="0" rtlCol="0" anchor="ctr"/>
          <a:lstStyle/>
          <a:p>
            <a:pPr algn="ctr" indent="0" marL="0">
              <a:buNone/>
            </a:pPr>
            <a:r>
              <a:rPr lang="en-US" sz="1500" b="1" dirty="0">
                <a:solidFill>
                  <a:srgbClr val="15201F"/>
                </a:solidFill>
                <a:latin typeface="Calibri" pitchFamily="34" charset="0"/>
                <a:ea typeface="Calibri" pitchFamily="34" charset="-122"/>
                <a:cs typeface="Calibri" pitchFamily="34" charset="-120"/>
              </a:rPr>
              <a:t>Broker app</a:t>
            </a:r>
            <a:endParaRPr lang="en-US" sz="1500" dirty="0"/>
          </a:p>
        </p:txBody>
      </p:sp>
      <p:sp>
        <p:nvSpPr>
          <p:cNvPr id="7" name="Text 4"/>
          <p:cNvSpPr txBox="1"/>
          <p:nvPr/>
        </p:nvSpPr>
        <p:spPr>
          <a:xfrm>
            <a:off x="594360" y="2487168"/>
            <a:ext cx="1645920" cy="914400"/>
          </a:xfrm>
          <a:prstGeom prst="rect">
            <a:avLst/>
          </a:prstGeom>
          <a:noFill/>
          <a:ln/>
        </p:spPr>
        <p:txBody>
          <a:bodyPr wrap="square" lIns="0" tIns="0" rIns="0" bIns="0" rtlCol="0" anchor="t"/>
          <a:lstStyle/>
          <a:p>
            <a:pPr algn="ctr" indent="0" marL="0">
              <a:buNone/>
            </a:pPr>
            <a:r>
              <a:rPr lang="en-US" sz="1150" dirty="0">
                <a:solidFill>
                  <a:srgbClr val="5B6866"/>
                </a:solidFill>
                <a:latin typeface="Calibri" pitchFamily="34" charset="0"/>
                <a:ea typeface="Calibri" pitchFamily="34" charset="-122"/>
                <a:cs typeface="Calibri" pitchFamily="34" charset="-120"/>
              </a:rPr>
              <a:t>Flats, customers, matching, visit plans, field staff, broadcasts</a:t>
            </a:r>
            <a:endParaRPr lang="en-US" sz="1150" dirty="0"/>
          </a:p>
        </p:txBody>
      </p:sp>
      <p:sp>
        <p:nvSpPr>
          <p:cNvPr id="8" name="Shape 5"/>
          <p:cNvSpPr/>
          <p:nvPr/>
        </p:nvSpPr>
        <p:spPr>
          <a:xfrm>
            <a:off x="2560320" y="1234440"/>
            <a:ext cx="1920240" cy="2240280"/>
          </a:xfrm>
          <a:prstGeom prst="roundRect">
            <a:avLst>
              <a:gd name="adj" fmla="val 3810"/>
            </a:avLst>
          </a:prstGeom>
          <a:solidFill>
            <a:srgbClr val="FFFFFF"/>
          </a:solidFill>
          <a:ln w="9525">
            <a:solidFill>
              <a:srgbClr val="DCE2DF"/>
            </a:solidFill>
            <a:prstDash val="solid"/>
          </a:ln>
        </p:spPr>
      </p:sp>
      <p:sp>
        <p:nvSpPr>
          <p:cNvPr id="9" name="Shape 6"/>
          <p:cNvSpPr/>
          <p:nvPr/>
        </p:nvSpPr>
        <p:spPr>
          <a:xfrm>
            <a:off x="3246120" y="1417320"/>
            <a:ext cx="548640" cy="548640"/>
          </a:xfrm>
          <a:prstGeom prst="ellipse">
            <a:avLst/>
          </a:prstGeom>
          <a:solidFill>
            <a:srgbClr val="0E3B43"/>
          </a:solidFill>
          <a:ln/>
        </p:spPr>
      </p:sp>
      <p:pic>
        <p:nvPicPr>
          <p:cNvPr id="10" name="Image 1" descr="preencoded.png">    </p:cNvPr>
          <p:cNvPicPr>
            <a:picLocks noChangeAspect="1"/>
          </p:cNvPicPr>
          <p:nvPr/>
        </p:nvPicPr>
        <p:blipFill>
          <a:blip r:embed="rId2"/>
          <a:stretch>
            <a:fillRect/>
          </a:stretch>
        </p:blipFill>
        <p:spPr>
          <a:xfrm>
            <a:off x="3377794" y="1548994"/>
            <a:ext cx="285293" cy="285293"/>
          </a:xfrm>
          <a:prstGeom prst="rect">
            <a:avLst/>
          </a:prstGeom>
        </p:spPr>
      </p:pic>
      <p:sp>
        <p:nvSpPr>
          <p:cNvPr id="11" name="Text 7"/>
          <p:cNvSpPr txBox="1"/>
          <p:nvPr/>
        </p:nvSpPr>
        <p:spPr>
          <a:xfrm>
            <a:off x="2697480" y="2103120"/>
            <a:ext cx="1645920" cy="365760"/>
          </a:xfrm>
          <a:prstGeom prst="rect">
            <a:avLst/>
          </a:prstGeom>
          <a:noFill/>
          <a:ln/>
        </p:spPr>
        <p:txBody>
          <a:bodyPr wrap="square" lIns="0" tIns="0" rIns="0" bIns="0" rtlCol="0" anchor="ctr"/>
          <a:lstStyle/>
          <a:p>
            <a:pPr algn="ctr" indent="0" marL="0">
              <a:buNone/>
            </a:pPr>
            <a:r>
              <a:rPr lang="en-US" sz="1500" b="1" dirty="0">
                <a:solidFill>
                  <a:srgbClr val="15201F"/>
                </a:solidFill>
                <a:latin typeface="Calibri" pitchFamily="34" charset="0"/>
                <a:ea typeface="Calibri" pitchFamily="34" charset="-122"/>
                <a:cs typeface="Calibri" pitchFamily="34" charset="-120"/>
              </a:rPr>
              <a:t>Owners</a:t>
            </a:r>
            <a:endParaRPr lang="en-US" sz="1500" dirty="0"/>
          </a:p>
        </p:txBody>
      </p:sp>
      <p:sp>
        <p:nvSpPr>
          <p:cNvPr id="12" name="Text 8"/>
          <p:cNvSpPr txBox="1"/>
          <p:nvPr/>
        </p:nvSpPr>
        <p:spPr>
          <a:xfrm>
            <a:off x="2697480" y="2487168"/>
            <a:ext cx="1645920" cy="914400"/>
          </a:xfrm>
          <a:prstGeom prst="rect">
            <a:avLst/>
          </a:prstGeom>
          <a:noFill/>
          <a:ln/>
        </p:spPr>
        <p:txBody>
          <a:bodyPr wrap="square" lIns="0" tIns="0" rIns="0" bIns="0" rtlCol="0" anchor="t"/>
          <a:lstStyle/>
          <a:p>
            <a:pPr algn="ctr" indent="0" marL="0">
              <a:buNone/>
            </a:pPr>
            <a:r>
              <a:rPr lang="en-US" sz="1150" dirty="0">
                <a:solidFill>
                  <a:srgbClr val="5B6866"/>
                </a:solidFill>
                <a:latin typeface="Calibri" pitchFamily="34" charset="0"/>
                <a:ea typeface="Calibri" pitchFamily="34" charset="-122"/>
                <a:cs typeface="Calibri" pitchFamily="34" charset="-120"/>
              </a:rPr>
              <a:t>Register the flat, choose which brokers may handle it, add photos, see status</a:t>
            </a:r>
            <a:endParaRPr lang="en-US" sz="1150" dirty="0"/>
          </a:p>
        </p:txBody>
      </p:sp>
      <p:sp>
        <p:nvSpPr>
          <p:cNvPr id="13" name="Shape 9"/>
          <p:cNvSpPr/>
          <p:nvPr/>
        </p:nvSpPr>
        <p:spPr>
          <a:xfrm>
            <a:off x="4663440" y="1234440"/>
            <a:ext cx="1920240" cy="2240280"/>
          </a:xfrm>
          <a:prstGeom prst="roundRect">
            <a:avLst>
              <a:gd name="adj" fmla="val 3810"/>
            </a:avLst>
          </a:prstGeom>
          <a:solidFill>
            <a:srgbClr val="FFFFFF"/>
          </a:solidFill>
          <a:ln w="9525">
            <a:solidFill>
              <a:srgbClr val="DCE2DF"/>
            </a:solidFill>
            <a:prstDash val="solid"/>
          </a:ln>
        </p:spPr>
      </p:sp>
      <p:sp>
        <p:nvSpPr>
          <p:cNvPr id="14" name="Shape 10"/>
          <p:cNvSpPr/>
          <p:nvPr/>
        </p:nvSpPr>
        <p:spPr>
          <a:xfrm>
            <a:off x="5349240" y="1417320"/>
            <a:ext cx="548640" cy="548640"/>
          </a:xfrm>
          <a:prstGeom prst="ellipse">
            <a:avLst/>
          </a:prstGeom>
          <a:solidFill>
            <a:srgbClr val="0E3B43"/>
          </a:solidFill>
          <a:ln/>
        </p:spPr>
      </p:sp>
      <p:pic>
        <p:nvPicPr>
          <p:cNvPr id="15" name="Image 2" descr="preencoded.png">    </p:cNvPr>
          <p:cNvPicPr>
            <a:picLocks noChangeAspect="1"/>
          </p:cNvPicPr>
          <p:nvPr/>
        </p:nvPicPr>
        <p:blipFill>
          <a:blip r:embed="rId3"/>
          <a:stretch>
            <a:fillRect/>
          </a:stretch>
        </p:blipFill>
        <p:spPr>
          <a:xfrm>
            <a:off x="5480914" y="1548994"/>
            <a:ext cx="285293" cy="285293"/>
          </a:xfrm>
          <a:prstGeom prst="rect">
            <a:avLst/>
          </a:prstGeom>
        </p:spPr>
      </p:pic>
      <p:sp>
        <p:nvSpPr>
          <p:cNvPr id="16" name="Text 11"/>
          <p:cNvSpPr txBox="1"/>
          <p:nvPr/>
        </p:nvSpPr>
        <p:spPr>
          <a:xfrm>
            <a:off x="4800600" y="2103120"/>
            <a:ext cx="1645920" cy="365760"/>
          </a:xfrm>
          <a:prstGeom prst="rect">
            <a:avLst/>
          </a:prstGeom>
          <a:noFill/>
          <a:ln/>
        </p:spPr>
        <p:txBody>
          <a:bodyPr wrap="square" lIns="0" tIns="0" rIns="0" bIns="0" rtlCol="0" anchor="ctr"/>
          <a:lstStyle/>
          <a:p>
            <a:pPr algn="ctr" indent="0" marL="0">
              <a:buNone/>
            </a:pPr>
            <a:r>
              <a:rPr lang="en-US" sz="1500" b="1" dirty="0">
                <a:solidFill>
                  <a:srgbClr val="15201F"/>
                </a:solidFill>
                <a:latin typeface="Calibri" pitchFamily="34" charset="0"/>
                <a:ea typeface="Calibri" pitchFamily="34" charset="-122"/>
                <a:cs typeface="Calibri" pitchFamily="34" charset="-120"/>
              </a:rPr>
              <a:t>Customers</a:t>
            </a:r>
            <a:endParaRPr lang="en-US" sz="1500" dirty="0"/>
          </a:p>
        </p:txBody>
      </p:sp>
      <p:sp>
        <p:nvSpPr>
          <p:cNvPr id="17" name="Text 12"/>
          <p:cNvSpPr txBox="1"/>
          <p:nvPr/>
        </p:nvSpPr>
        <p:spPr>
          <a:xfrm>
            <a:off x="4800600" y="2487168"/>
            <a:ext cx="1645920" cy="914400"/>
          </a:xfrm>
          <a:prstGeom prst="rect">
            <a:avLst/>
          </a:prstGeom>
          <a:noFill/>
          <a:ln/>
        </p:spPr>
        <p:txBody>
          <a:bodyPr wrap="square" lIns="0" tIns="0" rIns="0" bIns="0" rtlCol="0" anchor="t"/>
          <a:lstStyle/>
          <a:p>
            <a:pPr algn="ctr" indent="0" marL="0">
              <a:buNone/>
            </a:pPr>
            <a:r>
              <a:rPr lang="en-US" sz="1150" dirty="0">
                <a:solidFill>
                  <a:srgbClr val="5B6866"/>
                </a:solidFill>
                <a:latin typeface="Calibri" pitchFamily="34" charset="0"/>
                <a:ea typeface="Calibri" pitchFamily="34" charset="-122"/>
                <a:cs typeface="Calibri" pitchFamily="34" charset="-120"/>
              </a:rPr>
              <a:t>Shortlists, visit plans, consent and reviews by WhatsApp link — or the app</a:t>
            </a:r>
            <a:endParaRPr lang="en-US" sz="1150" dirty="0"/>
          </a:p>
        </p:txBody>
      </p:sp>
      <p:sp>
        <p:nvSpPr>
          <p:cNvPr id="18" name="Shape 13"/>
          <p:cNvSpPr/>
          <p:nvPr/>
        </p:nvSpPr>
        <p:spPr>
          <a:xfrm>
            <a:off x="6766560" y="1234440"/>
            <a:ext cx="1920240" cy="2240280"/>
          </a:xfrm>
          <a:prstGeom prst="roundRect">
            <a:avLst>
              <a:gd name="adj" fmla="val 3810"/>
            </a:avLst>
          </a:prstGeom>
          <a:solidFill>
            <a:srgbClr val="FFFFFF"/>
          </a:solidFill>
          <a:ln w="9525">
            <a:solidFill>
              <a:srgbClr val="DCE2DF"/>
            </a:solidFill>
            <a:prstDash val="solid"/>
          </a:ln>
        </p:spPr>
      </p:sp>
      <p:sp>
        <p:nvSpPr>
          <p:cNvPr id="19" name="Shape 14"/>
          <p:cNvSpPr/>
          <p:nvPr/>
        </p:nvSpPr>
        <p:spPr>
          <a:xfrm>
            <a:off x="7452360" y="1417320"/>
            <a:ext cx="548640" cy="548640"/>
          </a:xfrm>
          <a:prstGeom prst="ellipse">
            <a:avLst/>
          </a:prstGeom>
          <a:solidFill>
            <a:srgbClr val="0E3B43"/>
          </a:solidFill>
          <a:ln/>
        </p:spPr>
      </p:sp>
      <p:pic>
        <p:nvPicPr>
          <p:cNvPr id="20" name="Image 3" descr="preencoded.png">    </p:cNvPr>
          <p:cNvPicPr>
            <a:picLocks noChangeAspect="1"/>
          </p:cNvPicPr>
          <p:nvPr/>
        </p:nvPicPr>
        <p:blipFill>
          <a:blip r:embed="rId4"/>
          <a:stretch>
            <a:fillRect/>
          </a:stretch>
        </p:blipFill>
        <p:spPr>
          <a:xfrm>
            <a:off x="7584034" y="1548994"/>
            <a:ext cx="285293" cy="285293"/>
          </a:xfrm>
          <a:prstGeom prst="rect">
            <a:avLst/>
          </a:prstGeom>
        </p:spPr>
      </p:pic>
      <p:sp>
        <p:nvSpPr>
          <p:cNvPr id="21" name="Text 15"/>
          <p:cNvSpPr txBox="1"/>
          <p:nvPr/>
        </p:nvSpPr>
        <p:spPr>
          <a:xfrm>
            <a:off x="6903720" y="2103120"/>
            <a:ext cx="1645920" cy="365760"/>
          </a:xfrm>
          <a:prstGeom prst="rect">
            <a:avLst/>
          </a:prstGeom>
          <a:noFill/>
          <a:ln/>
        </p:spPr>
        <p:txBody>
          <a:bodyPr wrap="square" lIns="0" tIns="0" rIns="0" bIns="0" rtlCol="0" anchor="ctr"/>
          <a:lstStyle/>
          <a:p>
            <a:pPr algn="ctr" indent="0" marL="0">
              <a:buNone/>
            </a:pPr>
            <a:r>
              <a:rPr lang="en-US" sz="1500" b="1" dirty="0">
                <a:solidFill>
                  <a:srgbClr val="15201F"/>
                </a:solidFill>
                <a:latin typeface="Calibri" pitchFamily="34" charset="0"/>
                <a:ea typeface="Calibri" pitchFamily="34" charset="-122"/>
                <a:cs typeface="Calibri" pitchFamily="34" charset="-120"/>
              </a:rPr>
              <a:t>Ops console</a:t>
            </a:r>
            <a:endParaRPr lang="en-US" sz="1500" dirty="0"/>
          </a:p>
        </p:txBody>
      </p:sp>
      <p:sp>
        <p:nvSpPr>
          <p:cNvPr id="22" name="Text 16"/>
          <p:cNvSpPr txBox="1"/>
          <p:nvPr/>
        </p:nvSpPr>
        <p:spPr>
          <a:xfrm>
            <a:off x="6903720" y="2487168"/>
            <a:ext cx="1645920" cy="914400"/>
          </a:xfrm>
          <a:prstGeom prst="rect">
            <a:avLst/>
          </a:prstGeom>
          <a:noFill/>
          <a:ln/>
        </p:spPr>
        <p:txBody>
          <a:bodyPr wrap="square" lIns="0" tIns="0" rIns="0" bIns="0" rtlCol="0" anchor="t"/>
          <a:lstStyle/>
          <a:p>
            <a:pPr algn="ctr" indent="0" marL="0">
              <a:buNone/>
            </a:pPr>
            <a:r>
              <a:rPr lang="en-US" sz="1150" dirty="0">
                <a:solidFill>
                  <a:srgbClr val="5B6866"/>
                </a:solidFill>
                <a:latin typeface="Calibri" pitchFamily="34" charset="0"/>
                <a:ea typeface="Calibri" pitchFamily="34" charset="-122"/>
                <a:cs typeface="Calibri" pitchFamily="34" charset="-120"/>
              </a:rPr>
              <a:t>Verify brokers, keep buildings clean, check the audit trail</a:t>
            </a:r>
            <a:endParaRPr lang="en-US" sz="1150" dirty="0"/>
          </a:p>
        </p:txBody>
      </p:sp>
      <p:sp>
        <p:nvSpPr>
          <p:cNvPr id="23" name="Shape 17"/>
          <p:cNvSpPr/>
          <p:nvPr/>
        </p:nvSpPr>
        <p:spPr>
          <a:xfrm>
            <a:off x="457200" y="3703320"/>
            <a:ext cx="8229600" cy="960120"/>
          </a:xfrm>
          <a:prstGeom prst="roundRect">
            <a:avLst>
              <a:gd name="adj" fmla="val 7619"/>
            </a:avLst>
          </a:prstGeom>
          <a:solidFill>
            <a:srgbClr val="0E3B43"/>
          </a:solidFill>
          <a:ln/>
        </p:spPr>
      </p:sp>
      <p:sp>
        <p:nvSpPr>
          <p:cNvPr id="24" name="Shape 18"/>
          <p:cNvSpPr/>
          <p:nvPr/>
        </p:nvSpPr>
        <p:spPr>
          <a:xfrm>
            <a:off x="685800" y="3904488"/>
            <a:ext cx="548640" cy="548640"/>
          </a:xfrm>
          <a:prstGeom prst="ellipse">
            <a:avLst/>
          </a:prstGeom>
          <a:solidFill>
            <a:srgbClr val="FFFFFF"/>
          </a:solidFill>
          <a:ln/>
        </p:spPr>
      </p:sp>
      <p:pic>
        <p:nvPicPr>
          <p:cNvPr id="25" name="Image 4" descr="preencoded.png">    </p:cNvPr>
          <p:cNvPicPr>
            <a:picLocks noChangeAspect="1"/>
          </p:cNvPicPr>
          <p:nvPr/>
        </p:nvPicPr>
        <p:blipFill>
          <a:blip r:embed="rId5"/>
          <a:stretch>
            <a:fillRect/>
          </a:stretch>
        </p:blipFill>
        <p:spPr>
          <a:xfrm>
            <a:off x="817474" y="4036162"/>
            <a:ext cx="285293" cy="285293"/>
          </a:xfrm>
          <a:prstGeom prst="rect">
            <a:avLst/>
          </a:prstGeom>
        </p:spPr>
      </p:pic>
      <p:sp>
        <p:nvSpPr>
          <p:cNvPr id="26" name="Text 19"/>
          <p:cNvSpPr txBox="1"/>
          <p:nvPr/>
        </p:nvSpPr>
        <p:spPr>
          <a:xfrm>
            <a:off x="1417320" y="3776472"/>
            <a:ext cx="7132320" cy="8229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Foundation: one clean universe of real buildings</a:t>
            </a:r>
            <a:endParaRPr lang="en-US" sz="1300" dirty="0"/>
          </a:p>
          <a:p>
            <a:pPr indent="0" marL="0">
              <a:buNone/>
            </a:pPr>
            <a:r>
              <a:rPr lang="en-US" sz="1300" dirty="0">
                <a:solidFill>
                  <a:srgbClr val="DCEBE8"/>
                </a:solidFill>
                <a:latin typeface="Calibri" pitchFamily="34" charset="0"/>
                <a:ea typeface="Calibri" pitchFamily="34" charset="-122"/>
                <a:cs typeface="Calibri" pitchFamily="34" charset="-120"/>
              </a:rPr>
              <a:t>Every flat is tied to exactly one real society, wing and floor — Thane West first, then the rest of MMR.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3B43"/>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t"/>
          <a:lstStyle/>
          <a:p>
            <a:pPr indent="0" marL="0">
              <a:buNone/>
            </a:pPr>
            <a:r>
              <a:rPr lang="en-US" sz="2500" b="1" dirty="0">
                <a:solidFill>
                  <a:srgbClr val="FFFFFF"/>
                </a:solidFill>
                <a:latin typeface="Cambria" pitchFamily="34" charset="0"/>
                <a:ea typeface="Cambria" pitchFamily="34" charset="-122"/>
                <a:cs typeface="Cambria" pitchFamily="34" charset="-120"/>
              </a:rPr>
              <a:t>Six rules we never bend</a:t>
            </a:r>
            <a:endParaRPr lang="en-US" sz="2500" dirty="0"/>
          </a:p>
        </p:txBody>
      </p:sp>
      <p:sp>
        <p:nvSpPr>
          <p:cNvPr id="3" name="Shape 1"/>
          <p:cNvSpPr/>
          <p:nvPr/>
        </p:nvSpPr>
        <p:spPr>
          <a:xfrm>
            <a:off x="457200" y="1234440"/>
            <a:ext cx="502920" cy="50292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33832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Flats &amp; customers belong to the broker</a:t>
            </a:r>
            <a:endParaRPr lang="en-US" sz="1400" dirty="0"/>
          </a:p>
        </p:txBody>
      </p:sp>
      <p:sp>
        <p:nvSpPr>
          <p:cNvPr id="6" name="Text 3"/>
          <p:cNvSpPr txBox="1"/>
          <p:nvPr/>
        </p:nvSpPr>
        <p:spPr>
          <a:xfrm>
            <a:off x="1143000" y="1572768"/>
            <a:ext cx="3383280" cy="685800"/>
          </a:xfrm>
          <a:prstGeom prst="rect">
            <a:avLst/>
          </a:prstGeom>
          <a:noFill/>
          <a:ln/>
        </p:spPr>
        <p:txBody>
          <a:bodyPr wrap="square" lIns="0" tIns="0" rIns="0" bIns="0" rtlCol="0" anchor="t"/>
          <a:lstStyle/>
          <a:p>
            <a:pPr indent="0" marL="0">
              <a:buNone/>
            </a:pPr>
            <a:r>
              <a:rPr lang="en-US" sz="1150" dirty="0">
                <a:solidFill>
                  <a:srgbClr val="DCEBE8"/>
                </a:solidFill>
                <a:latin typeface="Calibri" pitchFamily="34" charset="0"/>
                <a:ea typeface="Calibri" pitchFamily="34" charset="-122"/>
                <a:cs typeface="Calibri" pitchFamily="34" charset="-120"/>
              </a:rPr>
              <a:t>Never shown, offered, moved or swapped between brokers. Enforced by the database itself.</a:t>
            </a:r>
            <a:endParaRPr lang="en-US" sz="1150" dirty="0"/>
          </a:p>
        </p:txBody>
      </p:sp>
      <p:sp>
        <p:nvSpPr>
          <p:cNvPr id="7" name="Shape 4"/>
          <p:cNvSpPr/>
          <p:nvPr/>
        </p:nvSpPr>
        <p:spPr>
          <a:xfrm>
            <a:off x="4663440" y="1234440"/>
            <a:ext cx="502920" cy="502920"/>
          </a:xfrm>
          <a:prstGeom prst="ellipse">
            <a:avLst/>
          </a:prstGeom>
          <a:solidFill>
            <a:srgbClr val="E8A33D"/>
          </a:solidFill>
          <a:ln/>
        </p:spPr>
      </p:sp>
      <p:pic>
        <p:nvPicPr>
          <p:cNvPr id="8" name="Image 1" descr="preencoded.png">    </p:cNvPr>
          <p:cNvPicPr>
            <a:picLocks noChangeAspect="1"/>
          </p:cNvPicPr>
          <p:nvPr/>
        </p:nvPicPr>
        <p:blipFill>
          <a:blip r:embed="rId2"/>
          <a:stretch>
            <a:fillRect/>
          </a:stretch>
        </p:blipFill>
        <p:spPr>
          <a:xfrm>
            <a:off x="4784141" y="1355141"/>
            <a:ext cx="261518" cy="261518"/>
          </a:xfrm>
          <a:prstGeom prst="rect">
            <a:avLst/>
          </a:prstGeom>
        </p:spPr>
      </p:pic>
      <p:sp>
        <p:nvSpPr>
          <p:cNvPr id="9" name="Text 5"/>
          <p:cNvSpPr txBox="1"/>
          <p:nvPr/>
        </p:nvSpPr>
        <p:spPr>
          <a:xfrm>
            <a:off x="5349240" y="1188720"/>
            <a:ext cx="33832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Closed universe of buildings</a:t>
            </a:r>
            <a:endParaRPr lang="en-US" sz="1400" dirty="0"/>
          </a:p>
        </p:txBody>
      </p:sp>
      <p:sp>
        <p:nvSpPr>
          <p:cNvPr id="10" name="Text 6"/>
          <p:cNvSpPr txBox="1"/>
          <p:nvPr/>
        </p:nvSpPr>
        <p:spPr>
          <a:xfrm>
            <a:off x="5349240" y="1572768"/>
            <a:ext cx="3383280" cy="685800"/>
          </a:xfrm>
          <a:prstGeom prst="rect">
            <a:avLst/>
          </a:prstGeom>
          <a:noFill/>
          <a:ln/>
        </p:spPr>
        <p:txBody>
          <a:bodyPr wrap="square" lIns="0" tIns="0" rIns="0" bIns="0" rtlCol="0" anchor="t"/>
          <a:lstStyle/>
          <a:p>
            <a:pPr indent="0" marL="0">
              <a:buNone/>
            </a:pPr>
            <a:r>
              <a:rPr lang="en-US" sz="1150" dirty="0">
                <a:solidFill>
                  <a:srgbClr val="DCEBE8"/>
                </a:solidFill>
                <a:latin typeface="Calibri" pitchFamily="34" charset="0"/>
                <a:ea typeface="Calibri" pitchFamily="34" charset="-122"/>
                <a:cs typeface="Calibri" pitchFamily="34" charset="-120"/>
              </a:rPr>
              <a:t>Nobody invents a building. Typos become matches, not duplicates.</a:t>
            </a:r>
            <a:endParaRPr lang="en-US" sz="1150" dirty="0"/>
          </a:p>
        </p:txBody>
      </p:sp>
      <p:sp>
        <p:nvSpPr>
          <p:cNvPr id="11" name="Shape 7"/>
          <p:cNvSpPr/>
          <p:nvPr/>
        </p:nvSpPr>
        <p:spPr>
          <a:xfrm>
            <a:off x="457200" y="2468880"/>
            <a:ext cx="502920" cy="502920"/>
          </a:xfrm>
          <a:prstGeom prst="ellipse">
            <a:avLst/>
          </a:prstGeom>
          <a:solidFill>
            <a:srgbClr val="E8A33D"/>
          </a:solidFill>
          <a:ln/>
        </p:spPr>
      </p:sp>
      <p:pic>
        <p:nvPicPr>
          <p:cNvPr id="12" name="Image 2" descr="preencoded.png">    </p:cNvPr>
          <p:cNvPicPr>
            <a:picLocks noChangeAspect="1"/>
          </p:cNvPicPr>
          <p:nvPr/>
        </p:nvPicPr>
        <p:blipFill>
          <a:blip r:embed="rId3"/>
          <a:stretch>
            <a:fillRect/>
          </a:stretch>
        </p:blipFill>
        <p:spPr>
          <a:xfrm>
            <a:off x="577901" y="2589581"/>
            <a:ext cx="261518" cy="261518"/>
          </a:xfrm>
          <a:prstGeom prst="rect">
            <a:avLst/>
          </a:prstGeom>
        </p:spPr>
      </p:pic>
      <p:sp>
        <p:nvSpPr>
          <p:cNvPr id="13" name="Text 8"/>
          <p:cNvSpPr txBox="1"/>
          <p:nvPr/>
        </p:nvSpPr>
        <p:spPr>
          <a:xfrm>
            <a:off x="1143000" y="2423160"/>
            <a:ext cx="33832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owner decides who handles the flat</a:t>
            </a:r>
            <a:endParaRPr lang="en-US" sz="1400" dirty="0"/>
          </a:p>
        </p:txBody>
      </p:sp>
      <p:sp>
        <p:nvSpPr>
          <p:cNvPr id="14" name="Text 9"/>
          <p:cNvSpPr txBox="1"/>
          <p:nvPr/>
        </p:nvSpPr>
        <p:spPr>
          <a:xfrm>
            <a:off x="1143000" y="2807208"/>
            <a:ext cx="3383280" cy="685800"/>
          </a:xfrm>
          <a:prstGeom prst="rect">
            <a:avLst/>
          </a:prstGeom>
          <a:noFill/>
          <a:ln/>
        </p:spPr>
        <p:txBody>
          <a:bodyPr wrap="square" lIns="0" tIns="0" rIns="0" bIns="0" rtlCol="0" anchor="t"/>
          <a:lstStyle/>
          <a:p>
            <a:pPr indent="0" marL="0">
              <a:buNone/>
            </a:pPr>
            <a:r>
              <a:rPr lang="en-US" sz="1150" dirty="0">
                <a:solidFill>
                  <a:srgbClr val="DCEBE8"/>
                </a:solidFill>
                <a:latin typeface="Calibri" pitchFamily="34" charset="0"/>
                <a:ea typeface="Calibri" pitchFamily="34" charset="-122"/>
                <a:cs typeface="Calibri" pitchFamily="34" charset="-120"/>
              </a:rPr>
              <a:t>A broker gets it only after the owner ticks “Allow this broker”. Unticking is final.</a:t>
            </a:r>
            <a:endParaRPr lang="en-US" sz="1150" dirty="0"/>
          </a:p>
        </p:txBody>
      </p:sp>
      <p:sp>
        <p:nvSpPr>
          <p:cNvPr id="15" name="Shape 10"/>
          <p:cNvSpPr/>
          <p:nvPr/>
        </p:nvSpPr>
        <p:spPr>
          <a:xfrm>
            <a:off x="4663440" y="2468880"/>
            <a:ext cx="502920" cy="502920"/>
          </a:xfrm>
          <a:prstGeom prst="ellipse">
            <a:avLst/>
          </a:prstGeom>
          <a:solidFill>
            <a:srgbClr val="E8A33D"/>
          </a:solidFill>
          <a:ln/>
        </p:spPr>
      </p:sp>
      <p:pic>
        <p:nvPicPr>
          <p:cNvPr id="16" name="Image 3" descr="preencoded.png">    </p:cNvPr>
          <p:cNvPicPr>
            <a:picLocks noChangeAspect="1"/>
          </p:cNvPicPr>
          <p:nvPr/>
        </p:nvPicPr>
        <p:blipFill>
          <a:blip r:embed="rId4"/>
          <a:stretch>
            <a:fillRect/>
          </a:stretch>
        </p:blipFill>
        <p:spPr>
          <a:xfrm>
            <a:off x="4784141" y="2589581"/>
            <a:ext cx="261518" cy="261518"/>
          </a:xfrm>
          <a:prstGeom prst="rect">
            <a:avLst/>
          </a:prstGeom>
        </p:spPr>
      </p:pic>
      <p:sp>
        <p:nvSpPr>
          <p:cNvPr id="17" name="Text 11"/>
          <p:cNvSpPr txBox="1"/>
          <p:nvPr/>
        </p:nvSpPr>
        <p:spPr>
          <a:xfrm>
            <a:off x="5349240" y="2423160"/>
            <a:ext cx="33832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Offline customers are first-class</a:t>
            </a:r>
            <a:endParaRPr lang="en-US" sz="1400" dirty="0"/>
          </a:p>
        </p:txBody>
      </p:sp>
      <p:sp>
        <p:nvSpPr>
          <p:cNvPr id="18" name="Text 12"/>
          <p:cNvSpPr txBox="1"/>
          <p:nvPr/>
        </p:nvSpPr>
        <p:spPr>
          <a:xfrm>
            <a:off x="5349240" y="2807208"/>
            <a:ext cx="3383280" cy="685800"/>
          </a:xfrm>
          <a:prstGeom prst="rect">
            <a:avLst/>
          </a:prstGeom>
          <a:noFill/>
          <a:ln/>
        </p:spPr>
        <p:txBody>
          <a:bodyPr wrap="square" lIns="0" tIns="0" rIns="0" bIns="0" rtlCol="0" anchor="t"/>
          <a:lstStyle/>
          <a:p>
            <a:pPr indent="0" marL="0">
              <a:buNone/>
            </a:pPr>
            <a:r>
              <a:rPr lang="en-US" sz="1150" dirty="0">
                <a:solidFill>
                  <a:srgbClr val="DCEBE8"/>
                </a:solidFill>
                <a:latin typeface="Calibri" pitchFamily="34" charset="0"/>
                <a:ea typeface="Calibri" pitchFamily="34" charset="-122"/>
                <a:cs typeface="Calibri" pitchFamily="34" charset="-120"/>
              </a:rPr>
              <a:t>Everything a customer or owner does in the app also works from a WhatsApp link.</a:t>
            </a:r>
            <a:endParaRPr lang="en-US" sz="1150" dirty="0"/>
          </a:p>
        </p:txBody>
      </p:sp>
      <p:sp>
        <p:nvSpPr>
          <p:cNvPr id="19" name="Shape 13"/>
          <p:cNvSpPr/>
          <p:nvPr/>
        </p:nvSpPr>
        <p:spPr>
          <a:xfrm>
            <a:off x="457200" y="3703320"/>
            <a:ext cx="502920" cy="502920"/>
          </a:xfrm>
          <a:prstGeom prst="ellipse">
            <a:avLst/>
          </a:prstGeom>
          <a:solidFill>
            <a:srgbClr val="E8A33D"/>
          </a:solidFill>
          <a:ln/>
        </p:spPr>
      </p:sp>
      <p:pic>
        <p:nvPicPr>
          <p:cNvPr id="20" name="Image 4" descr="preencoded.png">    </p:cNvPr>
          <p:cNvPicPr>
            <a:picLocks noChangeAspect="1"/>
          </p:cNvPicPr>
          <p:nvPr/>
        </p:nvPicPr>
        <p:blipFill>
          <a:blip r:embed="rId5"/>
          <a:stretch>
            <a:fillRect/>
          </a:stretch>
        </p:blipFill>
        <p:spPr>
          <a:xfrm>
            <a:off x="577901" y="3824021"/>
            <a:ext cx="261518" cy="261518"/>
          </a:xfrm>
          <a:prstGeom prst="rect">
            <a:avLst/>
          </a:prstGeom>
        </p:spPr>
      </p:pic>
      <p:sp>
        <p:nvSpPr>
          <p:cNvPr id="21" name="Text 14"/>
          <p:cNvSpPr txBox="1"/>
          <p:nvPr/>
        </p:nvSpPr>
        <p:spPr>
          <a:xfrm>
            <a:off x="1143000" y="3657600"/>
            <a:ext cx="33832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Meet brokers where they are</a:t>
            </a:r>
            <a:endParaRPr lang="en-US" sz="1400" dirty="0"/>
          </a:p>
        </p:txBody>
      </p:sp>
      <p:sp>
        <p:nvSpPr>
          <p:cNvPr id="22" name="Text 15"/>
          <p:cNvSpPr txBox="1"/>
          <p:nvPr/>
        </p:nvSpPr>
        <p:spPr>
          <a:xfrm>
            <a:off x="1143000" y="4041648"/>
            <a:ext cx="3383280" cy="685800"/>
          </a:xfrm>
          <a:prstGeom prst="rect">
            <a:avLst/>
          </a:prstGeom>
          <a:noFill/>
          <a:ln/>
        </p:spPr>
        <p:txBody>
          <a:bodyPr wrap="square" lIns="0" tIns="0" rIns="0" bIns="0" rtlCol="0" anchor="t"/>
          <a:lstStyle/>
          <a:p>
            <a:pPr indent="0" marL="0">
              <a:buNone/>
            </a:pPr>
            <a:r>
              <a:rPr lang="en-US" sz="1150" dirty="0">
                <a:solidFill>
                  <a:srgbClr val="DCEBE8"/>
                </a:solidFill>
                <a:latin typeface="Calibri" pitchFamily="34" charset="0"/>
                <a:ea typeface="Calibri" pitchFamily="34" charset="-122"/>
                <a:cs typeface="Calibri" pitchFamily="34" charset="-120"/>
              </a:rPr>
              <a:t>Pick flats their own way (“HE A-1203”); the matching engine earns trust, it is never forced.</a:t>
            </a:r>
            <a:endParaRPr lang="en-US" sz="1150" dirty="0"/>
          </a:p>
        </p:txBody>
      </p:sp>
      <p:sp>
        <p:nvSpPr>
          <p:cNvPr id="23" name="Shape 16"/>
          <p:cNvSpPr/>
          <p:nvPr/>
        </p:nvSpPr>
        <p:spPr>
          <a:xfrm>
            <a:off x="4663440" y="3703320"/>
            <a:ext cx="502920" cy="502920"/>
          </a:xfrm>
          <a:prstGeom prst="ellipse">
            <a:avLst/>
          </a:prstGeom>
          <a:solidFill>
            <a:srgbClr val="E8A33D"/>
          </a:solidFill>
          <a:ln/>
        </p:spPr>
      </p:sp>
      <p:pic>
        <p:nvPicPr>
          <p:cNvPr id="24" name="Image 5" descr="preencoded.png">    </p:cNvPr>
          <p:cNvPicPr>
            <a:picLocks noChangeAspect="1"/>
          </p:cNvPicPr>
          <p:nvPr/>
        </p:nvPicPr>
        <p:blipFill>
          <a:blip r:embed="rId6"/>
          <a:stretch>
            <a:fillRect/>
          </a:stretch>
        </p:blipFill>
        <p:spPr>
          <a:xfrm>
            <a:off x="4784141" y="3824021"/>
            <a:ext cx="261518" cy="261518"/>
          </a:xfrm>
          <a:prstGeom prst="rect">
            <a:avLst/>
          </a:prstGeom>
        </p:spPr>
      </p:pic>
      <p:sp>
        <p:nvSpPr>
          <p:cNvPr id="25" name="Text 17"/>
          <p:cNvSpPr txBox="1"/>
          <p:nvPr/>
        </p:nvSpPr>
        <p:spPr>
          <a:xfrm>
            <a:off x="5349240" y="3657600"/>
            <a:ext cx="33832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Conduct-based house rules only</a:t>
            </a:r>
            <a:endParaRPr lang="en-US" sz="1400" dirty="0"/>
          </a:p>
        </p:txBody>
      </p:sp>
      <p:sp>
        <p:nvSpPr>
          <p:cNvPr id="26" name="Text 18"/>
          <p:cNvSpPr txBox="1"/>
          <p:nvPr/>
        </p:nvSpPr>
        <p:spPr>
          <a:xfrm>
            <a:off x="5349240" y="4041648"/>
            <a:ext cx="3383280" cy="685800"/>
          </a:xfrm>
          <a:prstGeom prst="rect">
            <a:avLst/>
          </a:prstGeom>
          <a:noFill/>
          <a:ln/>
        </p:spPr>
        <p:txBody>
          <a:bodyPr wrap="square" lIns="0" tIns="0" rIns="0" bIns="0" rtlCol="0" anchor="t"/>
          <a:lstStyle/>
          <a:p>
            <a:pPr indent="0" marL="0">
              <a:buNone/>
            </a:pPr>
            <a:r>
              <a:rPr lang="en-US" sz="1150" dirty="0">
                <a:solidFill>
                  <a:srgbClr val="DCEBE8"/>
                </a:solidFill>
                <a:latin typeface="Calibri" pitchFamily="34" charset="0"/>
                <a:ea typeface="Calibri" pitchFamily="34" charset="-122"/>
                <a:cs typeface="Calibri" pitchFamily="34" charset="-120"/>
              </a:rPr>
              <a:t>Pets, cooking, smoking, occupancy — never religion, caste, community or gender.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694944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One app for the broker’s whole day</a:t>
            </a:r>
            <a:endParaRPr lang="en-US" sz="2500" dirty="0"/>
          </a:p>
        </p:txBody>
      </p:sp>
      <p:sp>
        <p:nvSpPr>
          <p:cNvPr id="3" name="Shape 1"/>
          <p:cNvSpPr/>
          <p:nvPr/>
        </p:nvSpPr>
        <p:spPr>
          <a:xfrm>
            <a:off x="7635240" y="310896"/>
            <a:ext cx="1051560" cy="310896"/>
          </a:xfrm>
          <a:prstGeom prst="roundRect">
            <a:avLst>
              <a:gd name="adj" fmla="val 50000"/>
            </a:avLst>
          </a:prstGeom>
          <a:solidFill>
            <a:srgbClr val="0E3B43"/>
          </a:solidFill>
          <a:ln/>
        </p:spPr>
      </p:sp>
      <p:sp>
        <p:nvSpPr>
          <p:cNvPr id="4" name="Text 2"/>
          <p:cNvSpPr txBox="1"/>
          <p:nvPr/>
        </p:nvSpPr>
        <p:spPr>
          <a:xfrm>
            <a:off x="7635240" y="310896"/>
            <a:ext cx="10515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USP</a:t>
            </a:r>
            <a:endParaRPr lang="en-US" sz="1100" dirty="0"/>
          </a:p>
        </p:txBody>
      </p:sp>
      <p:sp>
        <p:nvSpPr>
          <p:cNvPr id="5" name="Text 3"/>
          <p:cNvSpPr txBox="1"/>
          <p:nvPr/>
        </p:nvSpPr>
        <p:spPr>
          <a:xfrm>
            <a:off x="457200" y="1234440"/>
            <a:ext cx="2697480" cy="356616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Today: </a:t>
            </a:r>
            <a:pPr indent="0" marL="0">
              <a:buNone/>
            </a:pPr>
            <a:r>
              <a:rPr lang="en-US" sz="1250" dirty="0">
                <a:solidFill>
                  <a:srgbClr val="5B6866"/>
                </a:solidFill>
                <a:latin typeface="Calibri" pitchFamily="34" charset="0"/>
                <a:ea typeface="Calibri" pitchFamily="34" charset="-122"/>
                <a:cs typeface="Calibri" pitchFamily="34" charset="-120"/>
              </a:rPr>
              <a:t>new leads, today’s visits, flats to reconfirm.</a:t>
            </a:r>
            <a:endParaRPr lang="en-US" sz="1250" dirty="0"/>
          </a:p>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Flats: </a:t>
            </a:r>
            <a:pPr indent="0" marL="0">
              <a:buNone/>
            </a:pPr>
            <a:r>
              <a:rPr lang="en-US" sz="1250" dirty="0">
                <a:solidFill>
                  <a:srgbClr val="5B6866"/>
                </a:solidFill>
                <a:latin typeface="Calibri" pitchFamily="34" charset="0"/>
                <a:ea typeface="Calibri" pitchFamily="34" charset="-122"/>
                <a:cs typeface="Calibri" pitchFamily="34" charset="-120"/>
              </a:rPr>
              <a:t>status, keys, owner contact, stale reminders.</a:t>
            </a:r>
            <a:endParaRPr lang="en-US" sz="1250" dirty="0"/>
          </a:p>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Customers: </a:t>
            </a:r>
            <a:pPr indent="0" marL="0">
              <a:buNone/>
            </a:pPr>
            <a:r>
              <a:rPr lang="en-US" sz="1250" dirty="0">
                <a:solidFill>
                  <a:srgbClr val="5B6866"/>
                </a:solidFill>
                <a:latin typeface="Calibri" pitchFamily="34" charset="0"/>
                <a:ea typeface="Calibri" pitchFamily="34" charset="-122"/>
                <a:cs typeface="Calibri" pitchFamily="34" charset="-120"/>
              </a:rPr>
              <a:t>walk-ins and calls, consent, requirements, full history.</a:t>
            </a:r>
            <a:endParaRPr lang="en-US" sz="1250" dirty="0"/>
          </a:p>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Add a flat in ~10 taps </a:t>
            </a:r>
            <a:pPr indent="0" marL="0">
              <a:buNone/>
            </a:pPr>
            <a:r>
              <a:rPr lang="en-US" sz="1250" dirty="0">
                <a:solidFill>
                  <a:srgbClr val="5B6866"/>
                </a:solidFill>
                <a:latin typeface="Calibri" pitchFamily="34" charset="0"/>
                <a:ea typeface="Calibri" pitchFamily="34" charset="-122"/>
                <a:cs typeface="Calibri" pitchFamily="34" charset="-120"/>
              </a:rPr>
              <a:t>or upload an Excel sheet — messy spellings are matched automatically.</a:t>
            </a:r>
            <a:endParaRPr lang="en-US" sz="1250" dirty="0"/>
          </a:p>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Android &amp; iPhone </a:t>
            </a:r>
            <a:pPr indent="0" marL="0">
              <a:buNone/>
            </a:pPr>
            <a:r>
              <a:rPr lang="en-US" sz="1250" dirty="0">
                <a:solidFill>
                  <a:srgbClr val="5B6866"/>
                </a:solidFill>
                <a:latin typeface="Calibri" pitchFamily="34" charset="0"/>
                <a:ea typeface="Calibri" pitchFamily="34" charset="-122"/>
                <a:cs typeface="Calibri" pitchFamily="34" charset="-120"/>
              </a:rPr>
              <a:t>one codebase; Android test app installable today.</a:t>
            </a:r>
            <a:endParaRPr lang="en-US" sz="1250" dirty="0"/>
          </a:p>
        </p:txBody>
      </p:sp>
      <p:sp>
        <p:nvSpPr>
          <p:cNvPr id="6" name="Shape 4"/>
          <p:cNvSpPr/>
          <p:nvPr/>
        </p:nvSpPr>
        <p:spPr>
          <a:xfrm>
            <a:off x="337413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7" name="Image 0" descr="/tmp/claude-0/-home-user-SocietyManagement/f8f5daac-a2c6-5a71-ae45-d4f3c625db39/scratchpad/deck/img/today.jpg">    </p:cNvPr>
          <p:cNvPicPr>
            <a:picLocks noChangeAspect="1"/>
          </p:cNvPicPr>
          <p:nvPr/>
        </p:nvPicPr>
        <p:blipFill>
          <a:blip r:embed="rId1"/>
          <a:stretch>
            <a:fillRect/>
          </a:stretch>
        </p:blipFill>
        <p:spPr>
          <a:xfrm>
            <a:off x="3429000" y="1097280"/>
            <a:ext cx="1714500" cy="3429000"/>
          </a:xfrm>
          <a:prstGeom prst="rect">
            <a:avLst/>
          </a:prstGeom>
        </p:spPr>
      </p:pic>
      <p:sp>
        <p:nvSpPr>
          <p:cNvPr id="8" name="Text 5"/>
          <p:cNvSpPr txBox="1"/>
          <p:nvPr/>
        </p:nvSpPr>
        <p:spPr>
          <a:xfrm>
            <a:off x="315468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Today</a:t>
            </a:r>
            <a:endParaRPr lang="en-US" sz="1050" dirty="0"/>
          </a:p>
        </p:txBody>
      </p:sp>
      <p:sp>
        <p:nvSpPr>
          <p:cNvPr id="9" name="Shape 6"/>
          <p:cNvSpPr/>
          <p:nvPr/>
        </p:nvSpPr>
        <p:spPr>
          <a:xfrm>
            <a:off x="515721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10" name="Image 1" descr="/tmp/claude-0/-home-user-SocietyManagement/f8f5daac-a2c6-5a71-ae45-d4f3c625db39/scratchpad/deck/img/flats.jpg">    </p:cNvPr>
          <p:cNvPicPr>
            <a:picLocks noChangeAspect="1"/>
          </p:cNvPicPr>
          <p:nvPr/>
        </p:nvPicPr>
        <p:blipFill>
          <a:blip r:embed="rId2"/>
          <a:stretch>
            <a:fillRect/>
          </a:stretch>
        </p:blipFill>
        <p:spPr>
          <a:xfrm>
            <a:off x="5212080" y="1097280"/>
            <a:ext cx="1714500" cy="3429000"/>
          </a:xfrm>
          <a:prstGeom prst="rect">
            <a:avLst/>
          </a:prstGeom>
        </p:spPr>
      </p:pic>
      <p:sp>
        <p:nvSpPr>
          <p:cNvPr id="11" name="Text 7"/>
          <p:cNvSpPr txBox="1"/>
          <p:nvPr/>
        </p:nvSpPr>
        <p:spPr>
          <a:xfrm>
            <a:off x="493776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Flats</a:t>
            </a:r>
            <a:endParaRPr lang="en-US" sz="1050" dirty="0"/>
          </a:p>
        </p:txBody>
      </p:sp>
      <p:sp>
        <p:nvSpPr>
          <p:cNvPr id="12" name="Shape 8"/>
          <p:cNvSpPr/>
          <p:nvPr/>
        </p:nvSpPr>
        <p:spPr>
          <a:xfrm>
            <a:off x="694029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13" name="Image 2" descr="/tmp/claude-0/-home-user-SocietyManagement/f8f5daac-a2c6-5a71-ae45-d4f3c625db39/scratchpad/deck/img/customers.jpg">    </p:cNvPr>
          <p:cNvPicPr>
            <a:picLocks noChangeAspect="1"/>
          </p:cNvPicPr>
          <p:nvPr/>
        </p:nvPicPr>
        <p:blipFill>
          <a:blip r:embed="rId3"/>
          <a:stretch>
            <a:fillRect/>
          </a:stretch>
        </p:blipFill>
        <p:spPr>
          <a:xfrm>
            <a:off x="6995160" y="1097280"/>
            <a:ext cx="1714500" cy="3429000"/>
          </a:xfrm>
          <a:prstGeom prst="rect">
            <a:avLst/>
          </a:prstGeom>
        </p:spPr>
      </p:pic>
      <p:sp>
        <p:nvSpPr>
          <p:cNvPr id="14" name="Text 9"/>
          <p:cNvSpPr txBox="1"/>
          <p:nvPr/>
        </p:nvSpPr>
        <p:spPr>
          <a:xfrm>
            <a:off x="672084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Customers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694944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A closed universe of buildings = clean data</a:t>
            </a:r>
            <a:endParaRPr lang="en-US" sz="2500" dirty="0"/>
          </a:p>
        </p:txBody>
      </p:sp>
      <p:sp>
        <p:nvSpPr>
          <p:cNvPr id="3" name="Shape 1"/>
          <p:cNvSpPr/>
          <p:nvPr/>
        </p:nvSpPr>
        <p:spPr>
          <a:xfrm>
            <a:off x="7635240" y="310896"/>
            <a:ext cx="1051560" cy="310896"/>
          </a:xfrm>
          <a:prstGeom prst="roundRect">
            <a:avLst>
              <a:gd name="adj" fmla="val 50000"/>
            </a:avLst>
          </a:prstGeom>
          <a:solidFill>
            <a:srgbClr val="E8A33D"/>
          </a:solidFill>
          <a:ln/>
        </p:spPr>
      </p:sp>
      <p:sp>
        <p:nvSpPr>
          <p:cNvPr id="4" name="Text 2"/>
          <p:cNvSpPr txBox="1"/>
          <p:nvPr/>
        </p:nvSpPr>
        <p:spPr>
          <a:xfrm>
            <a:off x="7635240" y="310896"/>
            <a:ext cx="1051560" cy="310896"/>
          </a:xfrm>
          <a:prstGeom prst="rect">
            <a:avLst/>
          </a:prstGeom>
          <a:noFill/>
          <a:ln/>
        </p:spPr>
        <p:txBody>
          <a:bodyPr wrap="square" lIns="0" tIns="0" rIns="0" bIns="0" rtlCol="0" anchor="ctr"/>
          <a:lstStyle/>
          <a:p>
            <a:pPr algn="ctr" indent="0" marL="0">
              <a:buNone/>
            </a:pPr>
            <a:r>
              <a:rPr lang="en-US" sz="1100" b="1" spc="200" kern="0" dirty="0">
                <a:solidFill>
                  <a:srgbClr val="15201F"/>
                </a:solidFill>
                <a:latin typeface="Calibri" pitchFamily="34" charset="0"/>
                <a:ea typeface="Calibri" pitchFamily="34" charset="-122"/>
                <a:cs typeface="Calibri" pitchFamily="34" charset="-120"/>
              </a:rPr>
              <a:t>MOAT</a:t>
            </a:r>
            <a:endParaRPr lang="en-US" sz="1100" dirty="0"/>
          </a:p>
        </p:txBody>
      </p:sp>
      <p:sp>
        <p:nvSpPr>
          <p:cNvPr id="5" name="Shape 3"/>
          <p:cNvSpPr/>
          <p:nvPr/>
        </p:nvSpPr>
        <p:spPr>
          <a:xfrm>
            <a:off x="49377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6" name="Image 0" descr="/tmp/claude-0/-home-user-SocietyManagement/f8f5daac-a2c6-5a71-ae45-d4f3c625db39/scratchpad/deck/img/addflat.jpg">    </p:cNvPr>
          <p:cNvPicPr>
            <a:picLocks noChangeAspect="1"/>
          </p:cNvPicPr>
          <p:nvPr/>
        </p:nvPicPr>
        <p:blipFill>
          <a:blip r:embed="rId1"/>
          <a:stretch>
            <a:fillRect/>
          </a:stretch>
        </p:blipFill>
        <p:spPr>
          <a:xfrm>
            <a:off x="548640" y="1097280"/>
            <a:ext cx="1714500" cy="3429000"/>
          </a:xfrm>
          <a:prstGeom prst="rect">
            <a:avLst/>
          </a:prstGeom>
        </p:spPr>
      </p:pic>
      <p:sp>
        <p:nvSpPr>
          <p:cNvPr id="7" name="Text 4"/>
          <p:cNvSpPr txBox="1"/>
          <p:nvPr/>
        </p:nvSpPr>
        <p:spPr>
          <a:xfrm>
            <a:off x="27432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Impossible flat refused at entry</a:t>
            </a:r>
            <a:endParaRPr lang="en-US" sz="1050" dirty="0"/>
          </a:p>
        </p:txBody>
      </p:sp>
      <p:pic>
        <p:nvPicPr>
          <p:cNvPr id="8" name="Image 1" descr="/tmp/claude-0/-home-user-SocietyManagement/f8f5daac-a2c6-5a71-ae45-d4f3c625db39/scratchpad/deck/img/ops_queue.jpg">    </p:cNvPr>
          <p:cNvPicPr>
            <a:picLocks noChangeAspect="1"/>
          </p:cNvPicPr>
          <p:nvPr/>
        </p:nvPicPr>
        <p:blipFill>
          <a:blip r:embed="rId2"/>
          <a:stretch>
            <a:fillRect/>
          </a:stretch>
        </p:blipFill>
        <p:spPr>
          <a:xfrm>
            <a:off x="2606040" y="1143000"/>
            <a:ext cx="6080760" cy="1976247"/>
          </a:xfrm>
          <a:prstGeom prst="rect">
            <a:avLst/>
          </a:prstGeom>
        </p:spPr>
      </p:pic>
      <p:sp>
        <p:nvSpPr>
          <p:cNvPr id="9" name="Shape 5"/>
          <p:cNvSpPr/>
          <p:nvPr/>
        </p:nvSpPr>
        <p:spPr>
          <a:xfrm>
            <a:off x="2606040" y="1143000"/>
            <a:ext cx="6080760" cy="1976247"/>
          </a:xfrm>
          <a:prstGeom prst="rect">
            <a:avLst/>
          </a:prstGeom>
          <a:ln w="9525">
            <a:solidFill>
              <a:srgbClr val="C9D2CF"/>
            </a:solidFill>
            <a:prstDash val="solid"/>
          </a:ln>
        </p:spPr>
      </p:sp>
      <p:sp>
        <p:nvSpPr>
          <p:cNvPr id="10" name="Text 6"/>
          <p:cNvSpPr txBox="1"/>
          <p:nvPr/>
        </p:nvSpPr>
        <p:spPr>
          <a:xfrm>
            <a:off x="2606040" y="3172968"/>
            <a:ext cx="6080760" cy="256032"/>
          </a:xfrm>
          <a:prstGeom prst="rect">
            <a:avLst/>
          </a:prstGeom>
          <a:noFill/>
          <a:ln/>
        </p:spPr>
        <p:txBody>
          <a:bodyPr wrap="square" lIns="0" tIns="0" rIns="0" bIns="0" rtlCol="0" anchor="ctr"/>
          <a:lstStyle/>
          <a:p>
            <a:pPr indent="0" marL="0">
              <a:buNone/>
            </a:pPr>
            <a:r>
              <a:rPr lang="en-US" sz="1050" dirty="0">
                <a:solidFill>
                  <a:srgbClr val="5B6866"/>
                </a:solidFill>
                <a:latin typeface="Calibri" pitchFamily="34" charset="0"/>
                <a:ea typeface="Calibri" pitchFamily="34" charset="-122"/>
                <a:cs typeface="Calibri" pitchFamily="34" charset="-120"/>
              </a:rPr>
              <a:t>Ops review queue: a misspelled new society is matched to the real one (96%)</a:t>
            </a:r>
            <a:endParaRPr lang="en-US" sz="1050" dirty="0"/>
          </a:p>
        </p:txBody>
      </p:sp>
      <p:sp>
        <p:nvSpPr>
          <p:cNvPr id="11" name="Text 7"/>
          <p:cNvSpPr txBox="1"/>
          <p:nvPr/>
        </p:nvSpPr>
        <p:spPr>
          <a:xfrm>
            <a:off x="2606040" y="3566160"/>
            <a:ext cx="6080760" cy="1371600"/>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rgbClr val="15201F"/>
                </a:solidFill>
                <a:latin typeface="Calibri" pitchFamily="34" charset="0"/>
                <a:ea typeface="Calibri" pitchFamily="34" charset="-122"/>
                <a:cs typeface="Calibri" pitchFamily="34" charset="-120"/>
              </a:rPr>
              <a:t>Every flat → one real society, wing and floor. </a:t>
            </a:r>
            <a:pPr indent="0" marL="0">
              <a:buNone/>
            </a:pPr>
            <a:r>
              <a:rPr lang="en-US" sz="1200" dirty="0">
                <a:solidFill>
                  <a:srgbClr val="5B6866"/>
                </a:solidFill>
                <a:latin typeface="Calibri" pitchFamily="34" charset="0"/>
                <a:ea typeface="Calibri" pitchFamily="34" charset="-122"/>
                <a:cs typeface="Calibri" pitchFamily="34" charset="-120"/>
              </a:rPr>
              <a:t>Wing layouts (floors, flats per floor, refuge floors) refuse “2504” in a 20-floor wing.</a:t>
            </a:r>
            <a:endParaRPr lang="en-US" sz="1200" dirty="0"/>
          </a:p>
          <a:p>
            <a:pPr marL="177800" indent="-177800">
              <a:spcAft>
                <a:spcPts val="400"/>
              </a:spcAft>
              <a:buSzPct val="100000"/>
              <a:buChar char="•"/>
            </a:pPr>
            <a:r>
              <a:rPr lang="en-US" sz="1200" b="1" dirty="0">
                <a:solidFill>
                  <a:srgbClr val="15201F"/>
                </a:solidFill>
                <a:latin typeface="Calibri" pitchFamily="34" charset="0"/>
                <a:ea typeface="Calibri" pitchFamily="34" charset="-122"/>
                <a:cs typeface="Calibri" pitchFamily="34" charset="-120"/>
              </a:rPr>
              <a:t>Spellings and nicknames are learned. </a:t>
            </a:r>
            <a:pPr indent="0" marL="0">
              <a:buNone/>
            </a:pPr>
            <a:r>
              <a:rPr lang="en-US" sz="1200" dirty="0">
                <a:solidFill>
                  <a:srgbClr val="5B6866"/>
                </a:solidFill>
                <a:latin typeface="Calibri" pitchFamily="34" charset="0"/>
                <a:ea typeface="Calibri" pitchFamily="34" charset="-122"/>
                <a:cs typeface="Calibri" pitchFamily="34" charset="-120"/>
              </a:rPr>
              <a:t>“Hiranandni Estates”, “HE” → Hiranandani Estate. Each confirmed spelling makes the next upload cleaner.</a:t>
            </a:r>
            <a:endParaRPr lang="en-US" sz="1200" dirty="0"/>
          </a:p>
          <a:p>
            <a:pPr marL="177800" indent="-177800">
              <a:spcAft>
                <a:spcPts val="400"/>
              </a:spcAft>
              <a:buSzPct val="100000"/>
              <a:buChar char="•"/>
            </a:pPr>
            <a:r>
              <a:rPr lang="en-US" sz="1200" b="1" dirty="0">
                <a:solidFill>
                  <a:srgbClr val="15201F"/>
                </a:solidFill>
                <a:latin typeface="Calibri" pitchFamily="34" charset="0"/>
                <a:ea typeface="Calibri" pitchFamily="34" charset="-122"/>
                <a:cs typeface="Calibri" pitchFamily="34" charset="-120"/>
              </a:rPr>
              <a:t>Unknown names never create buildings </a:t>
            </a:r>
            <a:pPr indent="0" marL="0">
              <a:buNone/>
            </a:pPr>
            <a:r>
              <a:rPr lang="en-US" sz="1200" dirty="0">
                <a:solidFill>
                  <a:srgbClr val="5B6866"/>
                </a:solidFill>
                <a:latin typeface="Calibri" pitchFamily="34" charset="0"/>
                <a:ea typeface="Calibri" pitchFamily="34" charset="-122"/>
                <a:cs typeface="Calibri" pitchFamily="34" charset="-120"/>
              </a:rPr>
              <a:t>— they become a request our team approves or merges.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694944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One flat, one truth — confirmed by the owner</a:t>
            </a:r>
            <a:endParaRPr lang="en-US" sz="2500" dirty="0"/>
          </a:p>
        </p:txBody>
      </p:sp>
      <p:sp>
        <p:nvSpPr>
          <p:cNvPr id="3" name="Shape 1"/>
          <p:cNvSpPr/>
          <p:nvPr/>
        </p:nvSpPr>
        <p:spPr>
          <a:xfrm>
            <a:off x="7635240" y="310896"/>
            <a:ext cx="1051560" cy="310896"/>
          </a:xfrm>
          <a:prstGeom prst="roundRect">
            <a:avLst>
              <a:gd name="adj" fmla="val 50000"/>
            </a:avLst>
          </a:prstGeom>
          <a:solidFill>
            <a:srgbClr val="E8A33D"/>
          </a:solidFill>
          <a:ln/>
        </p:spPr>
      </p:sp>
      <p:sp>
        <p:nvSpPr>
          <p:cNvPr id="4" name="Text 2"/>
          <p:cNvSpPr txBox="1"/>
          <p:nvPr/>
        </p:nvSpPr>
        <p:spPr>
          <a:xfrm>
            <a:off x="7635240" y="310896"/>
            <a:ext cx="1051560" cy="310896"/>
          </a:xfrm>
          <a:prstGeom prst="rect">
            <a:avLst/>
          </a:prstGeom>
          <a:noFill/>
          <a:ln/>
        </p:spPr>
        <p:txBody>
          <a:bodyPr wrap="square" lIns="0" tIns="0" rIns="0" bIns="0" rtlCol="0" anchor="ctr"/>
          <a:lstStyle/>
          <a:p>
            <a:pPr algn="ctr" indent="0" marL="0">
              <a:buNone/>
            </a:pPr>
            <a:r>
              <a:rPr lang="en-US" sz="1100" b="1" spc="200" kern="0" dirty="0">
                <a:solidFill>
                  <a:srgbClr val="15201F"/>
                </a:solidFill>
                <a:latin typeface="Calibri" pitchFamily="34" charset="0"/>
                <a:ea typeface="Calibri" pitchFamily="34" charset="-122"/>
                <a:cs typeface="Calibri" pitchFamily="34" charset="-120"/>
              </a:rPr>
              <a:t>MOAT</a:t>
            </a:r>
            <a:endParaRPr lang="en-US" sz="1100" dirty="0"/>
          </a:p>
        </p:txBody>
      </p:sp>
      <p:sp>
        <p:nvSpPr>
          <p:cNvPr id="5" name="Shape 3"/>
          <p:cNvSpPr/>
          <p:nvPr/>
        </p:nvSpPr>
        <p:spPr>
          <a:xfrm>
            <a:off x="49377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6" name="Image 0" descr="/tmp/claude-0/-home-user-SocietyManagement/f8f5daac-a2c6-5a71-ae45-d4f3c625db39/scratchpad/deck/img/flat.jpg">    </p:cNvPr>
          <p:cNvPicPr>
            <a:picLocks noChangeAspect="1"/>
          </p:cNvPicPr>
          <p:nvPr/>
        </p:nvPicPr>
        <p:blipFill>
          <a:blip r:embed="rId1"/>
          <a:stretch>
            <a:fillRect/>
          </a:stretch>
        </p:blipFill>
        <p:spPr>
          <a:xfrm>
            <a:off x="548640" y="1097280"/>
            <a:ext cx="1714500" cy="3429000"/>
          </a:xfrm>
          <a:prstGeom prst="rect">
            <a:avLst/>
          </a:prstGeom>
        </p:spPr>
      </p:pic>
      <p:sp>
        <p:nvSpPr>
          <p:cNvPr id="7" name="Text 4"/>
          <p:cNvSpPr txBox="1"/>
          <p:nvPr/>
        </p:nvSpPr>
        <p:spPr>
          <a:xfrm>
            <a:off x="27432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Broker’s flat page</a:t>
            </a:r>
            <a:endParaRPr lang="en-US" sz="1050" dirty="0"/>
          </a:p>
        </p:txBody>
      </p:sp>
      <p:sp>
        <p:nvSpPr>
          <p:cNvPr id="8" name="Shape 5"/>
          <p:cNvSpPr/>
          <p:nvPr/>
        </p:nvSpPr>
        <p:spPr>
          <a:xfrm>
            <a:off x="245973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9" name="Image 1" descr="/tmp/claude-0/-home-user-SocietyManagement/f8f5daac-a2c6-5a71-ae45-d4f3c625db39/scratchpad/deck/img/l_owner.jpg">    </p:cNvPr>
          <p:cNvPicPr>
            <a:picLocks noChangeAspect="1"/>
          </p:cNvPicPr>
          <p:nvPr/>
        </p:nvPicPr>
        <p:blipFill>
          <a:blip r:embed="rId2"/>
          <a:stretch>
            <a:fillRect/>
          </a:stretch>
        </p:blipFill>
        <p:spPr>
          <a:xfrm>
            <a:off x="2514600" y="1097280"/>
            <a:ext cx="1714500" cy="3429000"/>
          </a:xfrm>
          <a:prstGeom prst="rect">
            <a:avLst/>
          </a:prstGeom>
        </p:spPr>
      </p:pic>
      <p:sp>
        <p:nvSpPr>
          <p:cNvPr id="10" name="Text 6"/>
          <p:cNvSpPr txBox="1"/>
          <p:nvPr/>
        </p:nvSpPr>
        <p:spPr>
          <a:xfrm>
            <a:off x="224028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Owner’s WhatsApp link</a:t>
            </a:r>
            <a:endParaRPr lang="en-US" sz="1050" dirty="0"/>
          </a:p>
        </p:txBody>
      </p:sp>
      <p:sp>
        <p:nvSpPr>
          <p:cNvPr id="11" name="Text 7"/>
          <p:cNvSpPr txBox="1"/>
          <p:nvPr/>
        </p:nvSpPr>
        <p:spPr>
          <a:xfrm>
            <a:off x="4617720" y="1188720"/>
            <a:ext cx="4069080" cy="356616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Owner confirms availability </a:t>
            </a:r>
            <a:pPr indent="0" marL="0">
              <a:buNone/>
            </a:pPr>
            <a:r>
              <a:rPr lang="en-US" sz="1250" dirty="0">
                <a:solidFill>
                  <a:srgbClr val="5B6866"/>
                </a:solidFill>
                <a:latin typeface="Calibri" pitchFamily="34" charset="0"/>
                <a:ea typeface="Calibri" pitchFamily="34" charset="-122"/>
                <a:cs typeface="Calibri" pitchFamily="34" charset="-120"/>
              </a:rPr>
              <a:t>with one tap from a WhatsApp link — no app, no login.</a:t>
            </a:r>
            <a:endParaRPr lang="en-US" sz="1250" dirty="0"/>
          </a:p>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Rented by one broker? </a:t>
            </a:r>
            <a:pPr indent="0" marL="0">
              <a:buNone/>
            </a:pPr>
            <a:r>
              <a:rPr lang="en-US" sz="1250" dirty="0">
                <a:solidFill>
                  <a:srgbClr val="5B6866"/>
                </a:solidFill>
                <a:latin typeface="Calibri" pitchFamily="34" charset="0"/>
                <a:ea typeface="Calibri" pitchFamily="34" charset="-122"/>
                <a:cs typeface="Calibri" pitchFamily="34" charset="-120"/>
              </a:rPr>
              <a:t>Every other broker holding that flat is alerted (without saying who).</a:t>
            </a:r>
            <a:endParaRPr lang="en-US" sz="1250" dirty="0"/>
          </a:p>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Stale flats </a:t>
            </a:r>
            <a:pPr indent="0" marL="0">
              <a:buNone/>
            </a:pPr>
            <a:r>
              <a:rPr lang="en-US" sz="1250" dirty="0">
                <a:solidFill>
                  <a:srgbClr val="5B6866"/>
                </a:solidFill>
                <a:latin typeface="Calibri" pitchFamily="34" charset="0"/>
                <a:ea typeface="Calibri" pitchFamily="34" charset="-122"/>
                <a:cs typeface="Calibri" pitchFamily="34" charset="-120"/>
              </a:rPr>
              <a:t>get reminders at 21 days and are marked “unverified” — customers stop seeing ghost listings.</a:t>
            </a:r>
            <a:endParaRPr lang="en-US" sz="1250" dirty="0"/>
          </a:p>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200-attribute dictionary, only 17 essential. </a:t>
            </a:r>
            <a:pPr indent="0" marL="0">
              <a:buNone/>
            </a:pPr>
            <a:r>
              <a:rPr lang="en-US" sz="1250" dirty="0">
                <a:solidFill>
                  <a:srgbClr val="5B6866"/>
                </a:solidFill>
                <a:latin typeface="Calibri" pitchFamily="34" charset="0"/>
                <a:ea typeface="Calibri" pitchFamily="34" charset="-122"/>
                <a:cs typeface="Calibri" pitchFamily="34" charset="-120"/>
              </a:rPr>
              <a:t>Owner answers override broker answers; distances to station, schools and autos are computed from the map.</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694944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Matching that explains itself</a:t>
            </a:r>
            <a:endParaRPr lang="en-US" sz="2500" dirty="0"/>
          </a:p>
        </p:txBody>
      </p:sp>
      <p:sp>
        <p:nvSpPr>
          <p:cNvPr id="3" name="Shape 1"/>
          <p:cNvSpPr/>
          <p:nvPr/>
        </p:nvSpPr>
        <p:spPr>
          <a:xfrm>
            <a:off x="7635240" y="310896"/>
            <a:ext cx="1051560" cy="310896"/>
          </a:xfrm>
          <a:prstGeom prst="roundRect">
            <a:avLst>
              <a:gd name="adj" fmla="val 50000"/>
            </a:avLst>
          </a:prstGeom>
          <a:solidFill>
            <a:srgbClr val="0E3B43"/>
          </a:solidFill>
          <a:ln/>
        </p:spPr>
      </p:sp>
      <p:sp>
        <p:nvSpPr>
          <p:cNvPr id="4" name="Text 2"/>
          <p:cNvSpPr txBox="1"/>
          <p:nvPr/>
        </p:nvSpPr>
        <p:spPr>
          <a:xfrm>
            <a:off x="7635240" y="310896"/>
            <a:ext cx="10515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USP</a:t>
            </a:r>
            <a:endParaRPr lang="en-US" sz="1100" dirty="0"/>
          </a:p>
        </p:txBody>
      </p:sp>
      <p:sp>
        <p:nvSpPr>
          <p:cNvPr id="5" name="Text 3"/>
          <p:cNvSpPr txBox="1"/>
          <p:nvPr/>
        </p:nvSpPr>
        <p:spPr>
          <a:xfrm>
            <a:off x="457200" y="1188720"/>
            <a:ext cx="4069080" cy="356616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Searches only the broker’s own flats. </a:t>
            </a:r>
            <a:pPr indent="0" marL="0">
              <a:buNone/>
            </a:pPr>
            <a:r>
              <a:rPr lang="en-US" sz="1250" dirty="0">
                <a:solidFill>
                  <a:srgbClr val="5B6866"/>
                </a:solidFill>
                <a:latin typeface="Calibri" pitchFamily="34" charset="0"/>
                <a:ea typeface="Calibri" pitchFamily="34" charset="-122"/>
                <a:cs typeface="Calibri" pitchFamily="34" charset="-120"/>
              </a:rPr>
              <a:t>Never another broker’s inventory.</a:t>
            </a:r>
            <a:endParaRPr lang="en-US" sz="1250" dirty="0"/>
          </a:p>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Every match shows why: </a:t>
            </a:r>
            <a:pPr indent="0" marL="0">
              <a:buNone/>
            </a:pPr>
            <a:r>
              <a:rPr lang="en-US" sz="1250" dirty="0">
                <a:solidFill>
                  <a:srgbClr val="5B6866"/>
                </a:solidFill>
                <a:latin typeface="Calibri" pitchFamily="34" charset="0"/>
                <a:ea typeface="Calibri" pitchFamily="34" charset="-122"/>
                <a:cs typeface="Calibri" pitchFamily="34" charset="-120"/>
              </a:rPr>
              <a:t>✓ fits, ✗ doesn’t fit, ? not confirmed — budget, BHK, pets, gas stove, availability…</a:t>
            </a:r>
            <a:endParaRPr lang="en-US" sz="1250" dirty="0"/>
          </a:p>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“Show why others don’t fit” </a:t>
            </a:r>
            <a:pPr indent="0" marL="0">
              <a:buNone/>
            </a:pPr>
            <a:r>
              <a:rPr lang="en-US" sz="1250" dirty="0">
                <a:solidFill>
                  <a:srgbClr val="5B6866"/>
                </a:solidFill>
                <a:latin typeface="Calibri" pitchFamily="34" charset="0"/>
                <a:ea typeface="Calibri" pitchFamily="34" charset="-122"/>
                <a:cs typeface="Calibri" pitchFamily="34" charset="-120"/>
              </a:rPr>
              <a:t>so the broker can talk the customer through trade-offs.</a:t>
            </a:r>
            <a:endParaRPr lang="en-US" sz="1250" dirty="0"/>
          </a:p>
          <a:p>
            <a:pPr marL="177800" indent="-177800">
              <a:spcAft>
                <a:spcPts val="700"/>
              </a:spcAft>
              <a:buSzPct val="100000"/>
              <a:buChar char="•"/>
            </a:pPr>
            <a:r>
              <a:rPr lang="en-US" sz="1250" b="1" dirty="0">
                <a:solidFill>
                  <a:srgbClr val="15201F"/>
                </a:solidFill>
                <a:latin typeface="Calibri" pitchFamily="34" charset="0"/>
                <a:ea typeface="Calibri" pitchFamily="34" charset="-122"/>
                <a:cs typeface="Calibri" pitchFamily="34" charset="-120"/>
              </a:rPr>
              <a:t>One tap to a WhatsApp shortlist </a:t>
            </a:r>
            <a:pPr indent="0" marL="0">
              <a:buNone/>
            </a:pPr>
            <a:r>
              <a:rPr lang="en-US" sz="1250" dirty="0">
                <a:solidFill>
                  <a:srgbClr val="5B6866"/>
                </a:solidFill>
                <a:latin typeface="Calibri" pitchFamily="34" charset="0"/>
                <a:ea typeface="Calibri" pitchFamily="34" charset="-122"/>
                <a:cs typeface="Calibri" pitchFamily="34" charset="-120"/>
              </a:rPr>
              <a:t>— the customer taps “Interested”, and it lands in their history.</a:t>
            </a:r>
            <a:endParaRPr lang="en-US" sz="1250" dirty="0"/>
          </a:p>
        </p:txBody>
      </p:sp>
      <p:sp>
        <p:nvSpPr>
          <p:cNvPr id="6" name="Shape 4"/>
          <p:cNvSpPr/>
          <p:nvPr/>
        </p:nvSpPr>
        <p:spPr>
          <a:xfrm>
            <a:off x="474573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7" name="Image 0" descr="/tmp/claude-0/-home-user-SocietyManagement/f8f5daac-a2c6-5a71-ae45-d4f3c625db39/scratchpad/deck/img/customer.jpg">    </p:cNvPr>
          <p:cNvPicPr>
            <a:picLocks noChangeAspect="1"/>
          </p:cNvPicPr>
          <p:nvPr/>
        </p:nvPicPr>
        <p:blipFill>
          <a:blip r:embed="rId1"/>
          <a:stretch>
            <a:fillRect/>
          </a:stretch>
        </p:blipFill>
        <p:spPr>
          <a:xfrm>
            <a:off x="4800600" y="1097280"/>
            <a:ext cx="1714500" cy="3429000"/>
          </a:xfrm>
          <a:prstGeom prst="rect">
            <a:avLst/>
          </a:prstGeom>
        </p:spPr>
      </p:pic>
      <p:sp>
        <p:nvSpPr>
          <p:cNvPr id="8" name="Text 5"/>
          <p:cNvSpPr txBox="1"/>
          <p:nvPr/>
        </p:nvSpPr>
        <p:spPr>
          <a:xfrm>
            <a:off x="452628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Customer &amp; requirement</a:t>
            </a:r>
            <a:endParaRPr lang="en-US" sz="1050" dirty="0"/>
          </a:p>
        </p:txBody>
      </p:sp>
      <p:sp>
        <p:nvSpPr>
          <p:cNvPr id="9" name="Shape 6"/>
          <p:cNvSpPr/>
          <p:nvPr/>
        </p:nvSpPr>
        <p:spPr>
          <a:xfrm>
            <a:off x="671169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10" name="Image 1" descr="/tmp/claude-0/-home-user-SocietyManagement/f8f5daac-a2c6-5a71-ae45-d4f3c625db39/scratchpad/deck/img/matches.jpg">    </p:cNvPr>
          <p:cNvPicPr>
            <a:picLocks noChangeAspect="1"/>
          </p:cNvPicPr>
          <p:nvPr/>
        </p:nvPicPr>
        <p:blipFill>
          <a:blip r:embed="rId2"/>
          <a:stretch>
            <a:fillRect/>
          </a:stretch>
        </p:blipFill>
        <p:spPr>
          <a:xfrm>
            <a:off x="6766560" y="1097280"/>
            <a:ext cx="1714500" cy="3429000"/>
          </a:xfrm>
          <a:prstGeom prst="rect">
            <a:avLst/>
          </a:prstGeom>
        </p:spPr>
      </p:pic>
      <p:sp>
        <p:nvSpPr>
          <p:cNvPr id="11" name="Text 7"/>
          <p:cNvSpPr txBox="1"/>
          <p:nvPr/>
        </p:nvSpPr>
        <p:spPr>
          <a:xfrm>
            <a:off x="649224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Explained matches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694944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Site visits: plan your way, run them like a fleet</a:t>
            </a:r>
            <a:endParaRPr lang="en-US" sz="2500" dirty="0"/>
          </a:p>
        </p:txBody>
      </p:sp>
      <p:sp>
        <p:nvSpPr>
          <p:cNvPr id="3" name="Shape 1"/>
          <p:cNvSpPr/>
          <p:nvPr/>
        </p:nvSpPr>
        <p:spPr>
          <a:xfrm>
            <a:off x="7635240" y="310896"/>
            <a:ext cx="1051560" cy="310896"/>
          </a:xfrm>
          <a:prstGeom prst="roundRect">
            <a:avLst>
              <a:gd name="adj" fmla="val 50000"/>
            </a:avLst>
          </a:prstGeom>
          <a:solidFill>
            <a:srgbClr val="0E3B43"/>
          </a:solidFill>
          <a:ln/>
        </p:spPr>
      </p:sp>
      <p:sp>
        <p:nvSpPr>
          <p:cNvPr id="4" name="Text 2"/>
          <p:cNvSpPr txBox="1"/>
          <p:nvPr/>
        </p:nvSpPr>
        <p:spPr>
          <a:xfrm>
            <a:off x="7635240" y="310896"/>
            <a:ext cx="10515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USP</a:t>
            </a:r>
            <a:endParaRPr lang="en-US" sz="1100" dirty="0"/>
          </a:p>
        </p:txBody>
      </p:sp>
      <p:sp>
        <p:nvSpPr>
          <p:cNvPr id="5" name="Shape 3"/>
          <p:cNvSpPr/>
          <p:nvPr/>
        </p:nvSpPr>
        <p:spPr>
          <a:xfrm>
            <a:off x="49377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6" name="Image 0" descr="/tmp/claude-0/-home-user-SocietyManagement/f8f5daac-a2c6-5a71-ae45-d4f3c625db39/scratchpad/deck/img/vsearch.jpg">    </p:cNvPr>
          <p:cNvPicPr>
            <a:picLocks noChangeAspect="1"/>
          </p:cNvPicPr>
          <p:nvPr/>
        </p:nvPicPr>
        <p:blipFill>
          <a:blip r:embed="rId1"/>
          <a:stretch>
            <a:fillRect/>
          </a:stretch>
        </p:blipFill>
        <p:spPr>
          <a:xfrm>
            <a:off x="548640" y="1097280"/>
            <a:ext cx="1714500" cy="3429000"/>
          </a:xfrm>
          <a:prstGeom prst="rect">
            <a:avLst/>
          </a:prstGeom>
        </p:spPr>
      </p:pic>
      <p:sp>
        <p:nvSpPr>
          <p:cNvPr id="7" name="Text 4"/>
          <p:cNvSpPr txBox="1"/>
          <p:nvPr/>
        </p:nvSpPr>
        <p:spPr>
          <a:xfrm>
            <a:off x="27432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“rodas 802” → add to route</a:t>
            </a:r>
            <a:endParaRPr lang="en-US" sz="1050" dirty="0"/>
          </a:p>
        </p:txBody>
      </p:sp>
      <p:sp>
        <p:nvSpPr>
          <p:cNvPr id="8" name="Shape 5"/>
          <p:cNvSpPr/>
          <p:nvPr/>
        </p:nvSpPr>
        <p:spPr>
          <a:xfrm>
            <a:off x="245973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9" name="Image 1" descr="/tmp/claude-0/-home-user-SocietyManagement/f8f5daac-a2c6-5a71-ae45-d4f3c625db39/scratchpad/deck/img/visit.jpg">    </p:cNvPr>
          <p:cNvPicPr>
            <a:picLocks noChangeAspect="1"/>
          </p:cNvPicPr>
          <p:nvPr/>
        </p:nvPicPr>
        <p:blipFill>
          <a:blip r:embed="rId2"/>
          <a:stretch>
            <a:fillRect/>
          </a:stretch>
        </p:blipFill>
        <p:spPr>
          <a:xfrm>
            <a:off x="2514600" y="1097280"/>
            <a:ext cx="1714500" cy="3429000"/>
          </a:xfrm>
          <a:prstGeom prst="rect">
            <a:avLst/>
          </a:prstGeom>
        </p:spPr>
      </p:pic>
      <p:sp>
        <p:nvSpPr>
          <p:cNvPr id="10" name="Text 6"/>
          <p:cNvSpPr txBox="1"/>
          <p:nvPr/>
        </p:nvSpPr>
        <p:spPr>
          <a:xfrm>
            <a:off x="224028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Optimised route</a:t>
            </a:r>
            <a:endParaRPr lang="en-US" sz="1050" dirty="0"/>
          </a:p>
        </p:txBody>
      </p:sp>
      <p:sp>
        <p:nvSpPr>
          <p:cNvPr id="11" name="Shape 7"/>
          <p:cNvSpPr/>
          <p:nvPr/>
        </p:nvSpPr>
        <p:spPr>
          <a:xfrm>
            <a:off x="442569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12" name="Image 2" descr="/tmp/claude-0/-home-user-SocietyManagement/f8f5daac-a2c6-5a71-ae45-d4f3c625db39/scratchpad/deck/img/staff.jpg">    </p:cNvPr>
          <p:cNvPicPr>
            <a:picLocks noChangeAspect="1"/>
          </p:cNvPicPr>
          <p:nvPr/>
        </p:nvPicPr>
        <p:blipFill>
          <a:blip r:embed="rId3"/>
          <a:stretch>
            <a:fillRect/>
          </a:stretch>
        </p:blipFill>
        <p:spPr>
          <a:xfrm>
            <a:off x="4480560" y="1097280"/>
            <a:ext cx="1714500" cy="3429000"/>
          </a:xfrm>
          <a:prstGeom prst="rect">
            <a:avLst/>
          </a:prstGeom>
        </p:spPr>
      </p:pic>
      <p:sp>
        <p:nvSpPr>
          <p:cNvPr id="13" name="Text 8"/>
          <p:cNvSpPr txBox="1"/>
          <p:nvPr/>
        </p:nvSpPr>
        <p:spPr>
          <a:xfrm>
            <a:off x="420624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Field staff — works offline</a:t>
            </a:r>
            <a:endParaRPr lang="en-US" sz="1050" dirty="0"/>
          </a:p>
        </p:txBody>
      </p:sp>
      <p:sp>
        <p:nvSpPr>
          <p:cNvPr id="14" name="Text 9"/>
          <p:cNvSpPr txBox="1"/>
          <p:nvPr/>
        </p:nvSpPr>
        <p:spPr>
          <a:xfrm>
            <a:off x="6537960" y="1188720"/>
            <a:ext cx="2194560" cy="361188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rgbClr val="15201F"/>
                </a:solidFill>
                <a:latin typeface="Calibri" pitchFamily="34" charset="0"/>
                <a:ea typeface="Calibri" pitchFamily="34" charset="-122"/>
                <a:cs typeface="Calibri" pitchFamily="34" charset="-120"/>
              </a:rPr>
              <a:t>Pick flats yourself: </a:t>
            </a:r>
            <a:pPr indent="0" marL="0">
              <a:buNone/>
            </a:pPr>
            <a:r>
              <a:rPr lang="en-US" sz="1150" dirty="0">
                <a:solidFill>
                  <a:srgbClr val="5B6866"/>
                </a:solidFill>
                <a:latin typeface="Calibri" pitchFamily="34" charset="0"/>
                <a:ea typeface="Calibri" pitchFamily="34" charset="-122"/>
                <a:cs typeface="Calibri" pitchFamily="34" charset="-120"/>
              </a:rPr>
              <a:t>type the society and flat you have in mind (“HE A-1203”).</a:t>
            </a:r>
            <a:endParaRPr lang="en-US" sz="1150" dirty="0"/>
          </a:p>
          <a:p>
            <a:pPr marL="177800" indent="-177800">
              <a:spcAft>
                <a:spcPts val="500"/>
              </a:spcAft>
              <a:buSzPct val="100000"/>
              <a:buChar char="•"/>
            </a:pPr>
            <a:r>
              <a:rPr lang="en-US" sz="1150" b="1" dirty="0">
                <a:solidFill>
                  <a:srgbClr val="15201F"/>
                </a:solidFill>
                <a:latin typeface="Calibri" pitchFamily="34" charset="0"/>
                <a:ea typeface="Calibri" pitchFamily="34" charset="-122"/>
                <a:cs typeface="Calibri" pitchFamily="34" charset="-120"/>
              </a:rPr>
              <a:t>Shortest route </a:t>
            </a:r>
            <a:pPr indent="0" marL="0">
              <a:buNone/>
            </a:pPr>
            <a:r>
              <a:rPr lang="en-US" sz="1150" dirty="0">
                <a:solidFill>
                  <a:srgbClr val="5B6866"/>
                </a:solidFill>
                <a:latin typeface="Calibri" pitchFamily="34" charset="0"/>
                <a:ea typeface="Calibri" pitchFamily="34" charset="-122"/>
                <a:cs typeface="Calibri" pitchFamily="34" charset="-120"/>
              </a:rPr>
              <a:t>and time slots worked out automatically.</a:t>
            </a:r>
            <a:endParaRPr lang="en-US" sz="1150" dirty="0"/>
          </a:p>
          <a:p>
            <a:pPr marL="177800" indent="-177800">
              <a:spcAft>
                <a:spcPts val="500"/>
              </a:spcAft>
              <a:buSzPct val="100000"/>
              <a:buChar char="•"/>
            </a:pPr>
            <a:r>
              <a:rPr lang="en-US" sz="1150" b="1" dirty="0">
                <a:solidFill>
                  <a:srgbClr val="15201F"/>
                </a:solidFill>
                <a:latin typeface="Calibri" pitchFamily="34" charset="0"/>
                <a:ea typeface="Calibri" pitchFamily="34" charset="-122"/>
                <a:cs typeface="Calibri" pitchFamily="34" charset="-120"/>
              </a:rPr>
              <a:t>Customer confirms </a:t>
            </a:r>
            <a:pPr indent="0" marL="0">
              <a:buNone/>
            </a:pPr>
            <a:r>
              <a:rPr lang="en-US" sz="1150" dirty="0">
                <a:solidFill>
                  <a:srgbClr val="5B6866"/>
                </a:solidFill>
                <a:latin typeface="Calibri" pitchFamily="34" charset="0"/>
                <a:ea typeface="Calibri" pitchFamily="34" charset="-122"/>
                <a:cs typeface="Calibri" pitchFamily="34" charset="-120"/>
              </a:rPr>
              <a:t>the plan from a WhatsApp link; owners are notified.</a:t>
            </a:r>
            <a:endParaRPr lang="en-US" sz="1150" dirty="0"/>
          </a:p>
          <a:p>
            <a:pPr marL="177800" indent="-177800">
              <a:spcAft>
                <a:spcPts val="500"/>
              </a:spcAft>
              <a:buSzPct val="100000"/>
              <a:buChar char="•"/>
            </a:pPr>
            <a:r>
              <a:rPr lang="en-US" sz="1150" b="1" dirty="0">
                <a:solidFill>
                  <a:srgbClr val="15201F"/>
                </a:solidFill>
                <a:latin typeface="Calibri" pitchFamily="34" charset="0"/>
                <a:ea typeface="Calibri" pitchFamily="34" charset="-122"/>
                <a:cs typeface="Calibri" pitchFamily="34" charset="-120"/>
              </a:rPr>
              <a:t>Field staff </a:t>
            </a:r>
            <a:pPr indent="0" marL="0">
              <a:buNone/>
            </a:pPr>
            <a:r>
              <a:rPr lang="en-US" sz="1150" dirty="0">
                <a:solidFill>
                  <a:srgbClr val="5B6866"/>
                </a:solidFill>
                <a:latin typeface="Calibri" pitchFamily="34" charset="0"/>
                <a:ea typeface="Calibri" pitchFamily="34" charset="-122"/>
                <a:cs typeface="Calibri" pitchFamily="34" charset="-120"/>
              </a:rPr>
              <a:t>see only their route; check-ins and outcomes work without network and sync later.</a:t>
            </a:r>
            <a:endParaRPr lang="en-US" sz="1150" dirty="0"/>
          </a:p>
          <a:p>
            <a:pPr marL="177800" indent="-177800">
              <a:spcAft>
                <a:spcPts val="500"/>
              </a:spcAft>
              <a:buSzPct val="100000"/>
              <a:buChar char="•"/>
            </a:pPr>
            <a:r>
              <a:rPr lang="en-US" sz="1150" b="1" dirty="0">
                <a:solidFill>
                  <a:srgbClr val="15201F"/>
                </a:solidFill>
                <a:latin typeface="Calibri" pitchFamily="34" charset="0"/>
                <a:ea typeface="Calibri" pitchFamily="34" charset="-122"/>
                <a:cs typeface="Calibri" pitchFamily="34" charset="-120"/>
              </a:rPr>
              <a:t>Keys </a:t>
            </a:r>
            <a:pPr indent="0" marL="0">
              <a:buNone/>
            </a:pPr>
            <a:r>
              <a:rPr lang="en-US" sz="1150" dirty="0">
                <a:solidFill>
                  <a:srgbClr val="5B6866"/>
                </a:solidFill>
                <a:latin typeface="Calibri" pitchFamily="34" charset="0"/>
                <a:ea typeface="Calibri" pitchFamily="34" charset="-122"/>
                <a:cs typeface="Calibri" pitchFamily="34" charset="-120"/>
              </a:rPr>
              <a:t>always known: office, owner, staff, lock-box.</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694944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No app needed: WhatsApp links do it all</a:t>
            </a:r>
            <a:endParaRPr lang="en-US" sz="2500" dirty="0"/>
          </a:p>
        </p:txBody>
      </p:sp>
      <p:sp>
        <p:nvSpPr>
          <p:cNvPr id="3" name="Shape 1"/>
          <p:cNvSpPr/>
          <p:nvPr/>
        </p:nvSpPr>
        <p:spPr>
          <a:xfrm>
            <a:off x="7635240" y="310896"/>
            <a:ext cx="1051560" cy="310896"/>
          </a:xfrm>
          <a:prstGeom prst="roundRect">
            <a:avLst>
              <a:gd name="adj" fmla="val 50000"/>
            </a:avLst>
          </a:prstGeom>
          <a:solidFill>
            <a:srgbClr val="0E3B43"/>
          </a:solidFill>
          <a:ln/>
        </p:spPr>
      </p:sp>
      <p:sp>
        <p:nvSpPr>
          <p:cNvPr id="4" name="Text 2"/>
          <p:cNvSpPr txBox="1"/>
          <p:nvPr/>
        </p:nvSpPr>
        <p:spPr>
          <a:xfrm>
            <a:off x="7635240" y="310896"/>
            <a:ext cx="10515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USP</a:t>
            </a:r>
            <a:endParaRPr lang="en-US" sz="1100" dirty="0"/>
          </a:p>
        </p:txBody>
      </p:sp>
      <p:sp>
        <p:nvSpPr>
          <p:cNvPr id="5" name="Shape 3"/>
          <p:cNvSpPr/>
          <p:nvPr/>
        </p:nvSpPr>
        <p:spPr>
          <a:xfrm>
            <a:off x="630936" y="1088136"/>
            <a:ext cx="1709928" cy="3310128"/>
          </a:xfrm>
          <a:prstGeom prst="roundRect">
            <a:avLst>
              <a:gd name="adj" fmla="val 7487"/>
            </a:avLst>
          </a:prstGeom>
          <a:solidFill>
            <a:srgbClr val="15201F"/>
          </a:solidFill>
          <a:ln/>
          <a:effectLst>
            <a:outerShdw sx="100000" sy="100000" kx="0" ky="0" algn="bl" rotWithShape="0" blurRad="101600" dist="38100" dir="5400000">
              <a:srgbClr val="000000">
                <a:alpha val="25000"/>
              </a:srgbClr>
            </a:outerShdw>
          </a:effectLst>
        </p:spPr>
      </p:sp>
      <p:pic>
        <p:nvPicPr>
          <p:cNvPr id="6" name="Image 0" descr="/tmp/claude-0/-home-user-SocietyManagement/f8f5daac-a2c6-5a71-ae45-d4f3c625db39/scratchpad/deck/img/l_short.jpg">    </p:cNvPr>
          <p:cNvPicPr>
            <a:picLocks noChangeAspect="1"/>
          </p:cNvPicPr>
          <p:nvPr/>
        </p:nvPicPr>
        <p:blipFill>
          <a:blip r:embed="rId1"/>
          <a:stretch>
            <a:fillRect/>
          </a:stretch>
        </p:blipFill>
        <p:spPr>
          <a:xfrm>
            <a:off x="685800" y="1143000"/>
            <a:ext cx="1600200" cy="3200400"/>
          </a:xfrm>
          <a:prstGeom prst="rect">
            <a:avLst/>
          </a:prstGeom>
        </p:spPr>
      </p:pic>
      <p:sp>
        <p:nvSpPr>
          <p:cNvPr id="7" name="Text 4"/>
          <p:cNvSpPr txBox="1"/>
          <p:nvPr/>
        </p:nvSpPr>
        <p:spPr>
          <a:xfrm>
            <a:off x="411480" y="4434840"/>
            <a:ext cx="21488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Shortlist — tap Interested</a:t>
            </a:r>
            <a:endParaRPr lang="en-US" sz="1050" dirty="0"/>
          </a:p>
        </p:txBody>
      </p:sp>
      <p:sp>
        <p:nvSpPr>
          <p:cNvPr id="8" name="Shape 5"/>
          <p:cNvSpPr/>
          <p:nvPr/>
        </p:nvSpPr>
        <p:spPr>
          <a:xfrm>
            <a:off x="2688336" y="1088136"/>
            <a:ext cx="1709928" cy="3310128"/>
          </a:xfrm>
          <a:prstGeom prst="roundRect">
            <a:avLst>
              <a:gd name="adj" fmla="val 7487"/>
            </a:avLst>
          </a:prstGeom>
          <a:solidFill>
            <a:srgbClr val="15201F"/>
          </a:solidFill>
          <a:ln/>
          <a:effectLst>
            <a:outerShdw sx="100000" sy="100000" kx="0" ky="0" algn="bl" rotWithShape="0" blurRad="101600" dist="38100" dir="5400000">
              <a:srgbClr val="000000">
                <a:alpha val="25000"/>
              </a:srgbClr>
            </a:outerShdw>
          </a:effectLst>
        </p:spPr>
      </p:sp>
      <p:pic>
        <p:nvPicPr>
          <p:cNvPr id="9" name="Image 1" descr="/tmp/claude-0/-home-user-SocietyManagement/f8f5daac-a2c6-5a71-ae45-d4f3c625db39/scratchpad/deck/img/l_plan.jpg">    </p:cNvPr>
          <p:cNvPicPr>
            <a:picLocks noChangeAspect="1"/>
          </p:cNvPicPr>
          <p:nvPr/>
        </p:nvPicPr>
        <p:blipFill>
          <a:blip r:embed="rId2"/>
          <a:stretch>
            <a:fillRect/>
          </a:stretch>
        </p:blipFill>
        <p:spPr>
          <a:xfrm>
            <a:off x="2743200" y="1143000"/>
            <a:ext cx="1600200" cy="3200400"/>
          </a:xfrm>
          <a:prstGeom prst="rect">
            <a:avLst/>
          </a:prstGeom>
        </p:spPr>
      </p:pic>
      <p:sp>
        <p:nvSpPr>
          <p:cNvPr id="10" name="Text 6"/>
          <p:cNvSpPr txBox="1"/>
          <p:nvPr/>
        </p:nvSpPr>
        <p:spPr>
          <a:xfrm>
            <a:off x="2468880" y="4434840"/>
            <a:ext cx="21488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Visit plan — confirm</a:t>
            </a:r>
            <a:endParaRPr lang="en-US" sz="1050" dirty="0"/>
          </a:p>
        </p:txBody>
      </p:sp>
      <p:sp>
        <p:nvSpPr>
          <p:cNvPr id="11" name="Shape 7"/>
          <p:cNvSpPr/>
          <p:nvPr/>
        </p:nvSpPr>
        <p:spPr>
          <a:xfrm>
            <a:off x="4745736" y="1088136"/>
            <a:ext cx="1709928" cy="3310128"/>
          </a:xfrm>
          <a:prstGeom prst="roundRect">
            <a:avLst>
              <a:gd name="adj" fmla="val 7487"/>
            </a:avLst>
          </a:prstGeom>
          <a:solidFill>
            <a:srgbClr val="15201F"/>
          </a:solidFill>
          <a:ln/>
          <a:effectLst>
            <a:outerShdw sx="100000" sy="100000" kx="0" ky="0" algn="bl" rotWithShape="0" blurRad="101600" dist="38100" dir="5400000">
              <a:srgbClr val="000000">
                <a:alpha val="25000"/>
              </a:srgbClr>
            </a:outerShdw>
          </a:effectLst>
        </p:spPr>
      </p:sp>
      <p:pic>
        <p:nvPicPr>
          <p:cNvPr id="12" name="Image 2" descr="/tmp/claude-0/-home-user-SocietyManagement/f8f5daac-a2c6-5a71-ae45-d4f3c625db39/scratchpad/deck/img/l_consent.jpg">    </p:cNvPr>
          <p:cNvPicPr>
            <a:picLocks noChangeAspect="1"/>
          </p:cNvPicPr>
          <p:nvPr/>
        </p:nvPicPr>
        <p:blipFill>
          <a:blip r:embed="rId3"/>
          <a:stretch>
            <a:fillRect/>
          </a:stretch>
        </p:blipFill>
        <p:spPr>
          <a:xfrm>
            <a:off x="4800600" y="1143000"/>
            <a:ext cx="1600200" cy="3200400"/>
          </a:xfrm>
          <a:prstGeom prst="rect">
            <a:avLst/>
          </a:prstGeom>
        </p:spPr>
      </p:pic>
      <p:sp>
        <p:nvSpPr>
          <p:cNvPr id="13" name="Text 8"/>
          <p:cNvSpPr txBox="1"/>
          <p:nvPr/>
        </p:nvSpPr>
        <p:spPr>
          <a:xfrm>
            <a:off x="4526280" y="4434840"/>
            <a:ext cx="21488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Consent — DPDP-ready</a:t>
            </a:r>
            <a:endParaRPr lang="en-US" sz="1050" dirty="0"/>
          </a:p>
        </p:txBody>
      </p:sp>
      <p:sp>
        <p:nvSpPr>
          <p:cNvPr id="14" name="Shape 9"/>
          <p:cNvSpPr/>
          <p:nvPr/>
        </p:nvSpPr>
        <p:spPr>
          <a:xfrm>
            <a:off x="6803136" y="1088136"/>
            <a:ext cx="1709928" cy="3310128"/>
          </a:xfrm>
          <a:prstGeom prst="roundRect">
            <a:avLst>
              <a:gd name="adj" fmla="val 7487"/>
            </a:avLst>
          </a:prstGeom>
          <a:solidFill>
            <a:srgbClr val="15201F"/>
          </a:solidFill>
          <a:ln/>
          <a:effectLst>
            <a:outerShdw sx="100000" sy="100000" kx="0" ky="0" algn="bl" rotWithShape="0" blurRad="101600" dist="38100" dir="5400000">
              <a:srgbClr val="000000">
                <a:alpha val="25000"/>
              </a:srgbClr>
            </a:outerShdw>
          </a:effectLst>
        </p:spPr>
      </p:sp>
      <p:pic>
        <p:nvPicPr>
          <p:cNvPr id="15" name="Image 3" descr="/tmp/claude-0/-home-user-SocietyManagement/f8f5daac-a2c6-5a71-ae45-d4f3c625db39/scratchpad/deck/img/l_review.jpg">    </p:cNvPr>
          <p:cNvPicPr>
            <a:picLocks noChangeAspect="1"/>
          </p:cNvPicPr>
          <p:nvPr/>
        </p:nvPicPr>
        <p:blipFill>
          <a:blip r:embed="rId4"/>
          <a:stretch>
            <a:fillRect/>
          </a:stretch>
        </p:blipFill>
        <p:spPr>
          <a:xfrm>
            <a:off x="6858000" y="1143000"/>
            <a:ext cx="1600200" cy="3200400"/>
          </a:xfrm>
          <a:prstGeom prst="rect">
            <a:avLst/>
          </a:prstGeom>
        </p:spPr>
      </p:pic>
      <p:sp>
        <p:nvSpPr>
          <p:cNvPr id="16" name="Text 10"/>
          <p:cNvSpPr txBox="1"/>
          <p:nvPr/>
        </p:nvSpPr>
        <p:spPr>
          <a:xfrm>
            <a:off x="6583680" y="4434840"/>
            <a:ext cx="21488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Review after the visit</a:t>
            </a:r>
            <a:endParaRPr lang="en-US" sz="1050" dirty="0"/>
          </a:p>
        </p:txBody>
      </p:sp>
      <p:sp>
        <p:nvSpPr>
          <p:cNvPr id="17" name="Text 11"/>
          <p:cNvSpPr txBox="1"/>
          <p:nvPr/>
        </p:nvSpPr>
        <p:spPr>
          <a:xfrm>
            <a:off x="457200" y="4645152"/>
            <a:ext cx="8229600" cy="320040"/>
          </a:xfrm>
          <a:prstGeom prst="rect">
            <a:avLst/>
          </a:prstGeom>
          <a:noFill/>
          <a:ln/>
        </p:spPr>
        <p:txBody>
          <a:bodyPr wrap="square" lIns="0" tIns="0" rIns="0" bIns="0" rtlCol="0" anchor="ctr"/>
          <a:lstStyle/>
          <a:p>
            <a:pPr indent="0" marL="0">
              <a:buNone/>
            </a:pPr>
            <a:r>
              <a:rPr lang="en-US" sz="1100" i="1" dirty="0">
                <a:solidFill>
                  <a:srgbClr val="0E3B43"/>
                </a:solidFill>
                <a:latin typeface="Calibri" pitchFamily="34" charset="0"/>
                <a:ea typeface="Calibri" pitchFamily="34" charset="-122"/>
                <a:cs typeface="Calibri" pitchFamily="34" charset="-120"/>
              </a:rPr>
              <a:t>Walk-in and phone customers become real, reachable customers — without installing anything. Flat numbers stay hidden until the visit.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694944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A broker’s second asset: their customer list</a:t>
            </a:r>
            <a:endParaRPr lang="en-US" sz="2500" dirty="0"/>
          </a:p>
        </p:txBody>
      </p:sp>
      <p:sp>
        <p:nvSpPr>
          <p:cNvPr id="3" name="Shape 1"/>
          <p:cNvSpPr/>
          <p:nvPr/>
        </p:nvSpPr>
        <p:spPr>
          <a:xfrm>
            <a:off x="7635240" y="310896"/>
            <a:ext cx="1051560" cy="310896"/>
          </a:xfrm>
          <a:prstGeom prst="roundRect">
            <a:avLst>
              <a:gd name="adj" fmla="val 50000"/>
            </a:avLst>
          </a:prstGeom>
          <a:solidFill>
            <a:srgbClr val="E8A33D"/>
          </a:solidFill>
          <a:ln/>
        </p:spPr>
      </p:sp>
      <p:sp>
        <p:nvSpPr>
          <p:cNvPr id="4" name="Text 2"/>
          <p:cNvSpPr txBox="1"/>
          <p:nvPr/>
        </p:nvSpPr>
        <p:spPr>
          <a:xfrm>
            <a:off x="7635240" y="310896"/>
            <a:ext cx="1051560" cy="310896"/>
          </a:xfrm>
          <a:prstGeom prst="rect">
            <a:avLst/>
          </a:prstGeom>
          <a:noFill/>
          <a:ln/>
        </p:spPr>
        <p:txBody>
          <a:bodyPr wrap="square" lIns="0" tIns="0" rIns="0" bIns="0" rtlCol="0" anchor="ctr"/>
          <a:lstStyle/>
          <a:p>
            <a:pPr algn="ctr" indent="0" marL="0">
              <a:buNone/>
            </a:pPr>
            <a:r>
              <a:rPr lang="en-US" sz="1100" b="1" spc="200" kern="0" dirty="0">
                <a:solidFill>
                  <a:srgbClr val="15201F"/>
                </a:solidFill>
                <a:latin typeface="Calibri" pitchFamily="34" charset="0"/>
                <a:ea typeface="Calibri" pitchFamily="34" charset="-122"/>
                <a:cs typeface="Calibri" pitchFamily="34" charset="-120"/>
              </a:rPr>
              <a:t>MOAT</a:t>
            </a:r>
            <a:endParaRPr lang="en-US" sz="1100" dirty="0"/>
          </a:p>
        </p:txBody>
      </p:sp>
      <p:sp>
        <p:nvSpPr>
          <p:cNvPr id="5" name="Text 3"/>
          <p:cNvSpPr txBox="1"/>
          <p:nvPr/>
        </p:nvSpPr>
        <p:spPr>
          <a:xfrm>
            <a:off x="457200" y="1188720"/>
            <a:ext cx="2926080" cy="361188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rgbClr val="15201F"/>
                </a:solidFill>
                <a:latin typeface="Calibri" pitchFamily="34" charset="0"/>
                <a:ea typeface="Calibri" pitchFamily="34" charset="-122"/>
                <a:cs typeface="Calibri" pitchFamily="34" charset="-120"/>
              </a:rPr>
              <a:t>Private, like their flats. </a:t>
            </a:r>
            <a:pPr indent="0" marL="0">
              <a:buNone/>
            </a:pPr>
            <a:r>
              <a:rPr lang="en-US" sz="1200" dirty="0">
                <a:solidFill>
                  <a:srgbClr val="5B6866"/>
                </a:solidFill>
                <a:latin typeface="Calibri" pitchFamily="34" charset="0"/>
                <a:ea typeface="Calibri" pitchFamily="34" charset="-122"/>
                <a:cs typeface="Calibri" pitchFamily="34" charset="-120"/>
              </a:rPr>
              <a:t>Never visible to any other broker.</a:t>
            </a:r>
            <a:endParaRPr lang="en-US" sz="1200" dirty="0"/>
          </a:p>
          <a:p>
            <a:pPr marL="177800" indent="-177800">
              <a:spcAft>
                <a:spcPts val="500"/>
              </a:spcAft>
              <a:buSzPct val="100000"/>
              <a:buChar char="•"/>
            </a:pPr>
            <a:r>
              <a:rPr lang="en-US" sz="1200" b="1" dirty="0">
                <a:solidFill>
                  <a:srgbClr val="15201F"/>
                </a:solidFill>
                <a:latin typeface="Calibri" pitchFamily="34" charset="0"/>
                <a:ea typeface="Calibri" pitchFamily="34" charset="-122"/>
                <a:cs typeface="Calibri" pitchFamily="34" charset="-120"/>
              </a:rPr>
              <a:t>Broadcast in one tap: </a:t>
            </a:r>
            <a:pPr indent="0" marL="0">
              <a:buNone/>
            </a:pPr>
            <a:r>
              <a:rPr lang="en-US" sz="1200" dirty="0">
                <a:solidFill>
                  <a:srgbClr val="5B6866"/>
                </a:solidFill>
                <a:latin typeface="Calibri" pitchFamily="34" charset="0"/>
                <a:ea typeface="Calibri" pitchFamily="34" charset="-122"/>
                <a:cs typeface="Calibri" pitchFamily="34" charset="-120"/>
              </a:rPr>
              <a:t>new flat, price drop in an area, or news — to all customers or those looking in one area.</a:t>
            </a:r>
            <a:endParaRPr lang="en-US" sz="1200" dirty="0"/>
          </a:p>
          <a:p>
            <a:pPr marL="177800" indent="-177800">
              <a:spcAft>
                <a:spcPts val="500"/>
              </a:spcAft>
              <a:buSzPct val="100000"/>
              <a:buChar char="•"/>
            </a:pPr>
            <a:r>
              <a:rPr lang="en-US" sz="1200" b="1" dirty="0">
                <a:solidFill>
                  <a:srgbClr val="15201F"/>
                </a:solidFill>
                <a:latin typeface="Calibri" pitchFamily="34" charset="0"/>
                <a:ea typeface="Calibri" pitchFamily="34" charset="-122"/>
                <a:cs typeface="Calibri" pitchFamily="34" charset="-120"/>
              </a:rPr>
              <a:t>Customers not on the app yet </a:t>
            </a:r>
            <a:pPr indent="0" marL="0">
              <a:buNone/>
            </a:pPr>
            <a:r>
              <a:rPr lang="en-US" sz="1200" dirty="0">
                <a:solidFill>
                  <a:srgbClr val="5B6866"/>
                </a:solidFill>
                <a:latin typeface="Calibri" pitchFamily="34" charset="0"/>
                <a:ea typeface="Calibri" pitchFamily="34" charset="-122"/>
                <a:cs typeface="Calibri" pitchFamily="34" charset="-120"/>
              </a:rPr>
              <a:t>get a WhatsApp invite with the same news.</a:t>
            </a:r>
            <a:endParaRPr lang="en-US" sz="1200" dirty="0"/>
          </a:p>
          <a:p>
            <a:pPr marL="177800" indent="-177800">
              <a:spcAft>
                <a:spcPts val="500"/>
              </a:spcAft>
              <a:buSzPct val="100000"/>
              <a:buChar char="•"/>
            </a:pPr>
            <a:r>
              <a:rPr lang="en-US" sz="1200" b="1" dirty="0">
                <a:solidFill>
                  <a:srgbClr val="15201F"/>
                </a:solidFill>
                <a:latin typeface="Calibri" pitchFamily="34" charset="0"/>
                <a:ea typeface="Calibri" pitchFamily="34" charset="-122"/>
                <a:cs typeface="Calibri" pitchFamily="34" charset="-120"/>
              </a:rPr>
              <a:t>Growth loop: </a:t>
            </a:r>
            <a:pPr indent="0" marL="0">
              <a:buNone/>
            </a:pPr>
            <a:r>
              <a:rPr lang="en-US" sz="1200" dirty="0">
                <a:solidFill>
                  <a:srgbClr val="5B6866"/>
                </a:solidFill>
                <a:latin typeface="Calibri" pitchFamily="34" charset="0"/>
                <a:ea typeface="Calibri" pitchFamily="34" charset="-122"/>
                <a:cs typeface="Calibri" pitchFamily="34" charset="-120"/>
              </a:rPr>
              <a:t>every broadcast pulls more offline customers onto the platform.</a:t>
            </a:r>
            <a:endParaRPr lang="en-US" sz="1200" dirty="0"/>
          </a:p>
          <a:p>
            <a:pPr marL="177800" indent="-177800">
              <a:spcAft>
                <a:spcPts val="500"/>
              </a:spcAft>
              <a:buSzPct val="100000"/>
              <a:buChar char="•"/>
            </a:pPr>
            <a:r>
              <a:rPr lang="en-US" sz="1200" b="1" dirty="0">
                <a:solidFill>
                  <a:srgbClr val="15201F"/>
                </a:solidFill>
                <a:latin typeface="Calibri" pitchFamily="34" charset="0"/>
                <a:ea typeface="Calibri" pitchFamily="34" charset="-122"/>
                <a:cs typeface="Calibri" pitchFamily="34" charset="-120"/>
              </a:rPr>
              <a:t>Customers stay in control: </a:t>
            </a:r>
            <a:pPr indent="0" marL="0">
              <a:buNone/>
            </a:pPr>
            <a:r>
              <a:rPr lang="en-US" sz="1200" dirty="0">
                <a:solidFill>
                  <a:srgbClr val="5B6866"/>
                </a:solidFill>
                <a:latin typeface="Calibri" pitchFamily="34" charset="0"/>
                <a:ea typeface="Calibri" pitchFamily="34" charset="-122"/>
                <a:cs typeface="Calibri" pitchFamily="34" charset="-120"/>
              </a:rPr>
              <a:t>“Stop updates from this broker”. Free in the pilot, credits later.</a:t>
            </a:r>
            <a:endParaRPr lang="en-US" sz="1200" dirty="0"/>
          </a:p>
        </p:txBody>
      </p:sp>
      <p:sp>
        <p:nvSpPr>
          <p:cNvPr id="6" name="Shape 4"/>
          <p:cNvSpPr/>
          <p:nvPr/>
        </p:nvSpPr>
        <p:spPr>
          <a:xfrm>
            <a:off x="346557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7" name="Image 0" descr="/tmp/claude-0/-home-user-SocietyManagement/f8f5daac-a2c6-5a71-ae45-d4f3c625db39/scratchpad/deck/img/bcast.jpg">    </p:cNvPr>
          <p:cNvPicPr>
            <a:picLocks noChangeAspect="1"/>
          </p:cNvPicPr>
          <p:nvPr/>
        </p:nvPicPr>
        <p:blipFill>
          <a:blip r:embed="rId1"/>
          <a:stretch>
            <a:fillRect/>
          </a:stretch>
        </p:blipFill>
        <p:spPr>
          <a:xfrm>
            <a:off x="3520440" y="1097280"/>
            <a:ext cx="1714500" cy="3429000"/>
          </a:xfrm>
          <a:prstGeom prst="rect">
            <a:avLst/>
          </a:prstGeom>
        </p:spPr>
      </p:pic>
      <p:sp>
        <p:nvSpPr>
          <p:cNvPr id="8" name="Text 5"/>
          <p:cNvSpPr txBox="1"/>
          <p:nvPr/>
        </p:nvSpPr>
        <p:spPr>
          <a:xfrm>
            <a:off x="324612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Compose</a:t>
            </a:r>
            <a:endParaRPr lang="en-US" sz="1050" dirty="0"/>
          </a:p>
        </p:txBody>
      </p:sp>
      <p:sp>
        <p:nvSpPr>
          <p:cNvPr id="9" name="Shape 6"/>
          <p:cNvSpPr/>
          <p:nvPr/>
        </p:nvSpPr>
        <p:spPr>
          <a:xfrm>
            <a:off x="520293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10" name="Image 1" descr="/tmp/claude-0/-home-user-SocietyManagement/f8f5daac-a2c6-5a71-ae45-d4f3c625db39/scratchpad/deck/img/bsent.jpg">    </p:cNvPr>
          <p:cNvPicPr>
            <a:picLocks noChangeAspect="1"/>
          </p:cNvPicPr>
          <p:nvPr/>
        </p:nvPicPr>
        <p:blipFill>
          <a:blip r:embed="rId2"/>
          <a:stretch>
            <a:fillRect/>
          </a:stretch>
        </p:blipFill>
        <p:spPr>
          <a:xfrm>
            <a:off x="5257800" y="1097280"/>
            <a:ext cx="1714500" cy="3429000"/>
          </a:xfrm>
          <a:prstGeom prst="rect">
            <a:avLst/>
          </a:prstGeom>
        </p:spPr>
      </p:pic>
      <p:sp>
        <p:nvSpPr>
          <p:cNvPr id="11" name="Text 7"/>
          <p:cNvSpPr txBox="1"/>
          <p:nvPr/>
        </p:nvSpPr>
        <p:spPr>
          <a:xfrm>
            <a:off x="498348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Invite the rest</a:t>
            </a:r>
            <a:endParaRPr lang="en-US" sz="1050" dirty="0"/>
          </a:p>
        </p:txBody>
      </p:sp>
      <p:sp>
        <p:nvSpPr>
          <p:cNvPr id="12" name="Shape 8"/>
          <p:cNvSpPr/>
          <p:nvPr/>
        </p:nvSpPr>
        <p:spPr>
          <a:xfrm>
            <a:off x="694029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13" name="Image 2" descr="/tmp/claude-0/-home-user-SocietyManagement/f8f5daac-a2c6-5a71-ae45-d4f3c625db39/scratchpad/deck/img/cupd.jpg">    </p:cNvPr>
          <p:cNvPicPr>
            <a:picLocks noChangeAspect="1"/>
          </p:cNvPicPr>
          <p:nvPr/>
        </p:nvPicPr>
        <p:blipFill>
          <a:blip r:embed="rId3"/>
          <a:stretch>
            <a:fillRect/>
          </a:stretch>
        </p:blipFill>
        <p:spPr>
          <a:xfrm>
            <a:off x="6995160" y="1097280"/>
            <a:ext cx="1714500" cy="3429000"/>
          </a:xfrm>
          <a:prstGeom prst="rect">
            <a:avLst/>
          </a:prstGeom>
        </p:spPr>
      </p:pic>
      <p:sp>
        <p:nvSpPr>
          <p:cNvPr id="14" name="Text 9"/>
          <p:cNvSpPr txBox="1"/>
          <p:nvPr/>
        </p:nvSpPr>
        <p:spPr>
          <a:xfrm>
            <a:off x="672084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Customer’s updates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694944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Owners in control — without extra work</a:t>
            </a:r>
            <a:endParaRPr lang="en-US" sz="2500" dirty="0"/>
          </a:p>
        </p:txBody>
      </p:sp>
      <p:sp>
        <p:nvSpPr>
          <p:cNvPr id="3" name="Shape 1"/>
          <p:cNvSpPr/>
          <p:nvPr/>
        </p:nvSpPr>
        <p:spPr>
          <a:xfrm>
            <a:off x="7635240" y="310896"/>
            <a:ext cx="1051560" cy="310896"/>
          </a:xfrm>
          <a:prstGeom prst="roundRect">
            <a:avLst>
              <a:gd name="adj" fmla="val 50000"/>
            </a:avLst>
          </a:prstGeom>
          <a:solidFill>
            <a:srgbClr val="0E3B43"/>
          </a:solidFill>
          <a:ln/>
        </p:spPr>
      </p:sp>
      <p:sp>
        <p:nvSpPr>
          <p:cNvPr id="4" name="Text 2"/>
          <p:cNvSpPr txBox="1"/>
          <p:nvPr/>
        </p:nvSpPr>
        <p:spPr>
          <a:xfrm>
            <a:off x="7635240" y="310896"/>
            <a:ext cx="10515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USP</a:t>
            </a:r>
            <a:endParaRPr lang="en-US" sz="1100" dirty="0"/>
          </a:p>
        </p:txBody>
      </p:sp>
      <p:sp>
        <p:nvSpPr>
          <p:cNvPr id="5" name="Shape 3"/>
          <p:cNvSpPr/>
          <p:nvPr/>
        </p:nvSpPr>
        <p:spPr>
          <a:xfrm>
            <a:off x="49377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6" name="Image 0" descr="/tmp/claude-0/-home-user-SocietyManagement/f8f5daac-a2c6-5a71-ae45-d4f3c625db39/scratchpad/deck/img/oflat.jpg">    </p:cNvPr>
          <p:cNvPicPr>
            <a:picLocks noChangeAspect="1"/>
          </p:cNvPicPr>
          <p:nvPr/>
        </p:nvPicPr>
        <p:blipFill>
          <a:blip r:embed="rId1"/>
          <a:stretch>
            <a:fillRect/>
          </a:stretch>
        </p:blipFill>
        <p:spPr>
          <a:xfrm>
            <a:off x="548640" y="1097280"/>
            <a:ext cx="1714500" cy="3429000"/>
          </a:xfrm>
          <a:prstGeom prst="rect">
            <a:avLst/>
          </a:prstGeom>
        </p:spPr>
      </p:pic>
      <p:sp>
        <p:nvSpPr>
          <p:cNvPr id="7" name="Text 4"/>
          <p:cNvSpPr txBox="1"/>
          <p:nvPr/>
        </p:nvSpPr>
        <p:spPr>
          <a:xfrm>
            <a:off x="27432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Who handles my flat</a:t>
            </a:r>
            <a:endParaRPr lang="en-US" sz="1050" dirty="0"/>
          </a:p>
        </p:txBody>
      </p:sp>
      <p:sp>
        <p:nvSpPr>
          <p:cNvPr id="8" name="Shape 5"/>
          <p:cNvSpPr/>
          <p:nvPr/>
        </p:nvSpPr>
        <p:spPr>
          <a:xfrm>
            <a:off x="245973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9" name="Image 1" descr="/tmp/claude-0/-home-user-SocietyManagement/f8f5daac-a2c6-5a71-ae45-d4f3c625db39/scratchpad/deck/img/oremove.jpg">    </p:cNvPr>
          <p:cNvPicPr>
            <a:picLocks noChangeAspect="1"/>
          </p:cNvPicPr>
          <p:nvPr/>
        </p:nvPicPr>
        <p:blipFill>
          <a:blip r:embed="rId2"/>
          <a:stretch>
            <a:fillRect/>
          </a:stretch>
        </p:blipFill>
        <p:spPr>
          <a:xfrm>
            <a:off x="2514600" y="1097280"/>
            <a:ext cx="1714500" cy="3429000"/>
          </a:xfrm>
          <a:prstGeom prst="rect">
            <a:avLst/>
          </a:prstGeom>
        </p:spPr>
      </p:pic>
      <p:sp>
        <p:nvSpPr>
          <p:cNvPr id="10" name="Text 6"/>
          <p:cNvSpPr txBox="1"/>
          <p:nvPr/>
        </p:nvSpPr>
        <p:spPr>
          <a:xfrm>
            <a:off x="224028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Untick = remove, final</a:t>
            </a:r>
            <a:endParaRPr lang="en-US" sz="1050" dirty="0"/>
          </a:p>
        </p:txBody>
      </p:sp>
      <p:sp>
        <p:nvSpPr>
          <p:cNvPr id="11" name="Shape 7"/>
          <p:cNvSpPr/>
          <p:nvPr/>
        </p:nvSpPr>
        <p:spPr>
          <a:xfrm>
            <a:off x="442569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12" name="Image 2" descr="/tmp/claude-0/-home-user-SocietyManagement/f8f5daac-a2c6-5a71-ae45-d4f3c625db39/scratchpad/deck/img/onear.jpg">    </p:cNvPr>
          <p:cNvPicPr>
            <a:picLocks noChangeAspect="1"/>
          </p:cNvPicPr>
          <p:nvPr/>
        </p:nvPicPr>
        <p:blipFill>
          <a:blip r:embed="rId3"/>
          <a:stretch>
            <a:fillRect/>
          </a:stretch>
        </p:blipFill>
        <p:spPr>
          <a:xfrm>
            <a:off x="4480560" y="1097280"/>
            <a:ext cx="1714500" cy="3429000"/>
          </a:xfrm>
          <a:prstGeom prst="rect">
            <a:avLst/>
          </a:prstGeom>
        </p:spPr>
      </p:pic>
      <p:sp>
        <p:nvSpPr>
          <p:cNvPr id="13" name="Text 8"/>
          <p:cNvSpPr txBox="1"/>
          <p:nvPr/>
        </p:nvSpPr>
        <p:spPr>
          <a:xfrm>
            <a:off x="420624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Invite needs the tick</a:t>
            </a:r>
            <a:endParaRPr lang="en-US" sz="1050" dirty="0"/>
          </a:p>
        </p:txBody>
      </p:sp>
      <p:sp>
        <p:nvSpPr>
          <p:cNvPr id="14" name="Text 9"/>
          <p:cNvSpPr txBox="1"/>
          <p:nvPr/>
        </p:nvSpPr>
        <p:spPr>
          <a:xfrm>
            <a:off x="6537960" y="1188720"/>
            <a:ext cx="2194560" cy="361188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rgbClr val="15201F"/>
                </a:solidFill>
                <a:latin typeface="Calibri" pitchFamily="34" charset="0"/>
                <a:ea typeface="Calibri" pitchFamily="34" charset="-122"/>
                <a:cs typeface="Calibri" pitchFamily="34" charset="-120"/>
              </a:rPr>
              <a:t>Register with proof </a:t>
            </a:r>
            <a:pPr indent="0" marL="0">
              <a:buNone/>
            </a:pPr>
            <a:r>
              <a:rPr lang="en-US" sz="1150" dirty="0">
                <a:solidFill>
                  <a:srgbClr val="5B6866"/>
                </a:solidFill>
                <a:latin typeface="Calibri" pitchFamily="34" charset="0"/>
                <a:ea typeface="Calibri" pitchFamily="34" charset="-122"/>
                <a:cs typeface="Calibri" pitchFamily="34" charset="-120"/>
              </a:rPr>
              <a:t>(index II / share certificate / bill) — kept, not checked: a deterrent.</a:t>
            </a:r>
            <a:endParaRPr lang="en-US" sz="1150" dirty="0"/>
          </a:p>
          <a:p>
            <a:pPr marL="177800" indent="-177800">
              <a:spcAft>
                <a:spcPts val="500"/>
              </a:spcAft>
              <a:buSzPct val="100000"/>
              <a:buChar char="•"/>
            </a:pPr>
            <a:r>
              <a:rPr lang="en-US" sz="1150" b="1" dirty="0">
                <a:solidFill>
                  <a:srgbClr val="15201F"/>
                </a:solidFill>
                <a:latin typeface="Calibri" pitchFamily="34" charset="0"/>
                <a:ea typeface="Calibri" pitchFamily="34" charset="-122"/>
                <a:cs typeface="Calibri" pitchFamily="34" charset="-120"/>
              </a:rPr>
              <a:t>“Allow this broker to handle my property” </a:t>
            </a:r>
            <a:pPr indent="0" marL="0">
              <a:buNone/>
            </a:pPr>
            <a:r>
              <a:rPr lang="en-US" sz="1150" dirty="0">
                <a:solidFill>
                  <a:srgbClr val="5B6866"/>
                </a:solidFill>
                <a:latin typeface="Calibri" pitchFamily="34" charset="0"/>
                <a:ea typeface="Calibri" pitchFamily="34" charset="-122"/>
                <a:cs typeface="Calibri" pitchFamily="34" charset="-120"/>
              </a:rPr>
              <a:t>— no flat reaches a broker without the tick.</a:t>
            </a:r>
            <a:endParaRPr lang="en-US" sz="1150" dirty="0"/>
          </a:p>
          <a:p>
            <a:pPr marL="177800" indent="-177800">
              <a:spcAft>
                <a:spcPts val="500"/>
              </a:spcAft>
              <a:buSzPct val="100000"/>
              <a:buChar char="•"/>
            </a:pPr>
            <a:r>
              <a:rPr lang="en-US" sz="1150" b="1" dirty="0">
                <a:solidFill>
                  <a:srgbClr val="15201F"/>
                </a:solidFill>
                <a:latin typeface="Calibri" pitchFamily="34" charset="0"/>
                <a:ea typeface="Calibri" pitchFamily="34" charset="-122"/>
                <a:cs typeface="Calibri" pitchFamily="34" charset="-120"/>
              </a:rPr>
              <a:t>Untick any broker: </a:t>
            </a:r>
            <a:pPr indent="0" marL="0">
              <a:buNone/>
            </a:pPr>
            <a:r>
              <a:rPr lang="en-US" sz="1150" dirty="0">
                <a:solidFill>
                  <a:srgbClr val="5B6866"/>
                </a:solidFill>
                <a:latin typeface="Calibri" pitchFamily="34" charset="0"/>
                <a:ea typeface="Calibri" pitchFamily="34" charset="-122"/>
                <a:cs typeface="Calibri" pitchFamily="34" charset="-120"/>
              </a:rPr>
              <a:t>they lose the flat and can’t re-add it; they may ask to be added back.</a:t>
            </a:r>
            <a:endParaRPr lang="en-US" sz="1150" dirty="0"/>
          </a:p>
          <a:p>
            <a:pPr marL="177800" indent="-177800">
              <a:spcAft>
                <a:spcPts val="500"/>
              </a:spcAft>
              <a:buSzPct val="100000"/>
              <a:buChar char="•"/>
            </a:pPr>
            <a:r>
              <a:rPr lang="en-US" sz="1150" b="1" dirty="0">
                <a:solidFill>
                  <a:srgbClr val="15201F"/>
                </a:solidFill>
                <a:latin typeface="Calibri" pitchFamily="34" charset="0"/>
                <a:ea typeface="Calibri" pitchFamily="34" charset="-122"/>
                <a:cs typeface="Calibri" pitchFamily="34" charset="-120"/>
              </a:rPr>
              <a:t>Read-only status: </a:t>
            </a:r>
            <a:pPr indent="0" marL="0">
              <a:buNone/>
            </a:pPr>
            <a:r>
              <a:rPr lang="en-US" sz="1150" dirty="0">
                <a:solidFill>
                  <a:srgbClr val="5B6866"/>
                </a:solidFill>
                <a:latin typeface="Calibri" pitchFamily="34" charset="0"/>
                <a:ea typeface="Calibri" pitchFamily="34" charset="-122"/>
                <a:cs typeface="Calibri" pitchFamily="34" charset="-120"/>
              </a:rPr>
              <a:t>“currently serviced by … · number · review”.</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694944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Photos &amp; videos: one good set per flat</a:t>
            </a:r>
            <a:endParaRPr lang="en-US" sz="2500" dirty="0"/>
          </a:p>
        </p:txBody>
      </p:sp>
      <p:sp>
        <p:nvSpPr>
          <p:cNvPr id="3" name="Shape 1"/>
          <p:cNvSpPr/>
          <p:nvPr/>
        </p:nvSpPr>
        <p:spPr>
          <a:xfrm>
            <a:off x="49377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4" name="Image 0" descr="/tmp/claude-0/-home-user-SocietyManagement/f8f5daac-a2c6-5a71-ae45-d4f3c625db39/scratchpad/deck/img/flat2.jpg">    </p:cNvPr>
          <p:cNvPicPr>
            <a:picLocks noChangeAspect="1"/>
          </p:cNvPicPr>
          <p:nvPr/>
        </p:nvPicPr>
        <p:blipFill>
          <a:blip r:embed="rId1"/>
          <a:stretch>
            <a:fillRect/>
          </a:stretch>
        </p:blipFill>
        <p:spPr>
          <a:xfrm>
            <a:off x="548640" y="1097280"/>
            <a:ext cx="1714500" cy="3429000"/>
          </a:xfrm>
          <a:prstGeom prst="rect">
            <a:avLst/>
          </a:prstGeom>
        </p:spPr>
      </p:pic>
      <p:sp>
        <p:nvSpPr>
          <p:cNvPr id="5" name="Text 2"/>
          <p:cNvSpPr txBox="1"/>
          <p:nvPr/>
        </p:nvSpPr>
        <p:spPr>
          <a:xfrm>
            <a:off x="27432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Flat photos on the broker’s page</a:t>
            </a:r>
            <a:endParaRPr lang="en-US" sz="1050" dirty="0"/>
          </a:p>
        </p:txBody>
      </p:sp>
      <p:sp>
        <p:nvSpPr>
          <p:cNvPr id="6" name="Shape 3"/>
          <p:cNvSpPr/>
          <p:nvPr/>
        </p:nvSpPr>
        <p:spPr>
          <a:xfrm>
            <a:off x="2743200" y="1188720"/>
            <a:ext cx="5943600" cy="1005840"/>
          </a:xfrm>
          <a:prstGeom prst="roundRect">
            <a:avLst>
              <a:gd name="adj" fmla="val 7273"/>
            </a:avLst>
          </a:prstGeom>
          <a:solidFill>
            <a:srgbClr val="FFFFFF"/>
          </a:solidFill>
          <a:ln w="9525">
            <a:solidFill>
              <a:srgbClr val="DCE2DF"/>
            </a:solidFill>
            <a:prstDash val="solid"/>
          </a:ln>
        </p:spPr>
      </p:sp>
      <p:sp>
        <p:nvSpPr>
          <p:cNvPr id="7" name="Shape 4"/>
          <p:cNvSpPr/>
          <p:nvPr/>
        </p:nvSpPr>
        <p:spPr>
          <a:xfrm>
            <a:off x="2926080" y="1417320"/>
            <a:ext cx="548640" cy="548640"/>
          </a:xfrm>
          <a:prstGeom prst="ellipse">
            <a:avLst/>
          </a:prstGeom>
          <a:solidFill>
            <a:srgbClr val="0E3B43"/>
          </a:solidFill>
          <a:ln/>
        </p:spPr>
      </p:sp>
      <p:pic>
        <p:nvPicPr>
          <p:cNvPr id="8" name="Image 1" descr="preencoded.png">    </p:cNvPr>
          <p:cNvPicPr>
            <a:picLocks noChangeAspect="1"/>
          </p:cNvPicPr>
          <p:nvPr/>
        </p:nvPicPr>
        <p:blipFill>
          <a:blip r:embed="rId2"/>
          <a:stretch>
            <a:fillRect/>
          </a:stretch>
        </p:blipFill>
        <p:spPr>
          <a:xfrm>
            <a:off x="3057754" y="1548994"/>
            <a:ext cx="285293" cy="285293"/>
          </a:xfrm>
          <a:prstGeom prst="rect">
            <a:avLst/>
          </a:prstGeom>
        </p:spPr>
      </p:pic>
      <p:sp>
        <p:nvSpPr>
          <p:cNvPr id="9" name="Text 5"/>
          <p:cNvSpPr txBox="1"/>
          <p:nvPr/>
        </p:nvSpPr>
        <p:spPr>
          <a:xfrm>
            <a:off x="3657600" y="1316736"/>
            <a:ext cx="4846320" cy="320040"/>
          </a:xfrm>
          <a:prstGeom prst="rect">
            <a:avLst/>
          </a:prstGeom>
          <a:noFill/>
          <a:ln/>
        </p:spPr>
        <p:txBody>
          <a:bodyPr wrap="square" lIns="0" tIns="0" rIns="0" bIns="0" rtlCol="0" anchor="ctr"/>
          <a:lstStyle/>
          <a:p>
            <a:pPr indent="0" marL="0">
              <a:buNone/>
            </a:pPr>
            <a:r>
              <a:rPr lang="en-US" sz="1400" b="1" dirty="0">
                <a:solidFill>
                  <a:srgbClr val="15201F"/>
                </a:solidFill>
                <a:latin typeface="Calibri" pitchFamily="34" charset="0"/>
                <a:ea typeface="Calibri" pitchFamily="34" charset="-122"/>
                <a:cs typeface="Calibri" pitchFamily="34" charset="-120"/>
              </a:rPr>
              <a:t>1. Owner or broker uploads</a:t>
            </a:r>
            <a:endParaRPr lang="en-US" sz="1400" dirty="0"/>
          </a:p>
        </p:txBody>
      </p:sp>
      <p:sp>
        <p:nvSpPr>
          <p:cNvPr id="10" name="Text 6"/>
          <p:cNvSpPr txBox="1"/>
          <p:nvPr/>
        </p:nvSpPr>
        <p:spPr>
          <a:xfrm>
            <a:off x="3657600" y="1645920"/>
            <a:ext cx="4846320" cy="502920"/>
          </a:xfrm>
          <a:prstGeom prst="rect">
            <a:avLst/>
          </a:prstGeom>
          <a:noFill/>
          <a:ln/>
        </p:spPr>
        <p:txBody>
          <a:bodyPr wrap="square" lIns="0" tIns="0" rIns="0" bIns="0" rtlCol="0" anchor="t"/>
          <a:lstStyle/>
          <a:p>
            <a:pPr indent="0" marL="0">
              <a:buNone/>
            </a:pPr>
            <a:r>
              <a:rPr lang="en-US" sz="1150" dirty="0">
                <a:solidFill>
                  <a:srgbClr val="5B6866"/>
                </a:solidFill>
                <a:latin typeface="Calibri" pitchFamily="34" charset="0"/>
                <a:ea typeface="Calibri" pitchFamily="34" charset="-122"/>
                <a:cs typeface="Calibri" pitchFamily="34" charset="-120"/>
              </a:rPr>
              <a:t>Customers never can. Photos are straightened, resized, and location details removed.</a:t>
            </a:r>
            <a:endParaRPr lang="en-US" sz="1150" dirty="0"/>
          </a:p>
        </p:txBody>
      </p:sp>
      <p:sp>
        <p:nvSpPr>
          <p:cNvPr id="11" name="Shape 7"/>
          <p:cNvSpPr/>
          <p:nvPr/>
        </p:nvSpPr>
        <p:spPr>
          <a:xfrm>
            <a:off x="2743200" y="2377440"/>
            <a:ext cx="5943600" cy="1005840"/>
          </a:xfrm>
          <a:prstGeom prst="roundRect">
            <a:avLst>
              <a:gd name="adj" fmla="val 7273"/>
            </a:avLst>
          </a:prstGeom>
          <a:solidFill>
            <a:srgbClr val="FFFFFF"/>
          </a:solidFill>
          <a:ln w="9525">
            <a:solidFill>
              <a:srgbClr val="DCE2DF"/>
            </a:solidFill>
            <a:prstDash val="solid"/>
          </a:ln>
        </p:spPr>
      </p:sp>
      <p:sp>
        <p:nvSpPr>
          <p:cNvPr id="12" name="Shape 8"/>
          <p:cNvSpPr/>
          <p:nvPr/>
        </p:nvSpPr>
        <p:spPr>
          <a:xfrm>
            <a:off x="2926080" y="2606040"/>
            <a:ext cx="548640" cy="548640"/>
          </a:xfrm>
          <a:prstGeom prst="ellipse">
            <a:avLst/>
          </a:prstGeom>
          <a:solidFill>
            <a:srgbClr val="0E3B43"/>
          </a:solidFill>
          <a:ln/>
        </p:spPr>
      </p:sp>
      <p:pic>
        <p:nvPicPr>
          <p:cNvPr id="13" name="Image 2" descr="preencoded.png">    </p:cNvPr>
          <p:cNvPicPr>
            <a:picLocks noChangeAspect="1"/>
          </p:cNvPicPr>
          <p:nvPr/>
        </p:nvPicPr>
        <p:blipFill>
          <a:blip r:embed="rId3"/>
          <a:stretch>
            <a:fillRect/>
          </a:stretch>
        </p:blipFill>
        <p:spPr>
          <a:xfrm>
            <a:off x="3057754" y="2737714"/>
            <a:ext cx="285293" cy="285293"/>
          </a:xfrm>
          <a:prstGeom prst="rect">
            <a:avLst/>
          </a:prstGeom>
        </p:spPr>
      </p:pic>
      <p:sp>
        <p:nvSpPr>
          <p:cNvPr id="14" name="Text 9"/>
          <p:cNvSpPr txBox="1"/>
          <p:nvPr/>
        </p:nvSpPr>
        <p:spPr>
          <a:xfrm>
            <a:off x="3657600" y="2505456"/>
            <a:ext cx="4846320" cy="320040"/>
          </a:xfrm>
          <a:prstGeom prst="rect">
            <a:avLst/>
          </a:prstGeom>
          <a:noFill/>
          <a:ln/>
        </p:spPr>
        <p:txBody>
          <a:bodyPr wrap="square" lIns="0" tIns="0" rIns="0" bIns="0" rtlCol="0" anchor="ctr"/>
          <a:lstStyle/>
          <a:p>
            <a:pPr indent="0" marL="0">
              <a:buNone/>
            </a:pPr>
            <a:r>
              <a:rPr lang="en-US" sz="1400" b="1" dirty="0">
                <a:solidFill>
                  <a:srgbClr val="15201F"/>
                </a:solidFill>
                <a:latin typeface="Calibri" pitchFamily="34" charset="0"/>
                <a:ea typeface="Calibri" pitchFamily="34" charset="-122"/>
                <a:cs typeface="Calibri" pitchFamily="34" charset="-120"/>
              </a:rPr>
              <a:t>2. Owner approves</a:t>
            </a:r>
            <a:endParaRPr lang="en-US" sz="1400" dirty="0"/>
          </a:p>
        </p:txBody>
      </p:sp>
      <p:sp>
        <p:nvSpPr>
          <p:cNvPr id="15" name="Text 10"/>
          <p:cNvSpPr txBox="1"/>
          <p:nvPr/>
        </p:nvSpPr>
        <p:spPr>
          <a:xfrm>
            <a:off x="3657600" y="2834640"/>
            <a:ext cx="4846320" cy="502920"/>
          </a:xfrm>
          <a:prstGeom prst="rect">
            <a:avLst/>
          </a:prstGeom>
          <a:noFill/>
          <a:ln/>
        </p:spPr>
        <p:txBody>
          <a:bodyPr wrap="square" lIns="0" tIns="0" rIns="0" bIns="0" rtlCol="0" anchor="t"/>
          <a:lstStyle/>
          <a:p>
            <a:pPr indent="0" marL="0">
              <a:buNone/>
            </a:pPr>
            <a:r>
              <a:rPr lang="en-US" sz="1150" dirty="0">
                <a:solidFill>
                  <a:srgbClr val="5B6866"/>
                </a:solidFill>
                <a:latin typeface="Calibri" pitchFamily="34" charset="0"/>
                <a:ea typeface="Calibri" pitchFamily="34" charset="-122"/>
                <a:cs typeface="Calibri" pitchFamily="34" charset="-120"/>
              </a:rPr>
              <a:t>A broker’s upload stays “waiting” until the owner approves. Max 5 photos + 1 video per flat.</a:t>
            </a:r>
            <a:endParaRPr lang="en-US" sz="1150" dirty="0"/>
          </a:p>
        </p:txBody>
      </p:sp>
      <p:sp>
        <p:nvSpPr>
          <p:cNvPr id="16" name="Shape 11"/>
          <p:cNvSpPr/>
          <p:nvPr/>
        </p:nvSpPr>
        <p:spPr>
          <a:xfrm>
            <a:off x="2743200" y="3566160"/>
            <a:ext cx="5943600" cy="1005840"/>
          </a:xfrm>
          <a:prstGeom prst="roundRect">
            <a:avLst>
              <a:gd name="adj" fmla="val 7273"/>
            </a:avLst>
          </a:prstGeom>
          <a:solidFill>
            <a:srgbClr val="FFFFFF"/>
          </a:solidFill>
          <a:ln w="9525">
            <a:solidFill>
              <a:srgbClr val="DCE2DF"/>
            </a:solidFill>
            <a:prstDash val="solid"/>
          </a:ln>
        </p:spPr>
      </p:sp>
      <p:sp>
        <p:nvSpPr>
          <p:cNvPr id="17" name="Shape 12"/>
          <p:cNvSpPr/>
          <p:nvPr/>
        </p:nvSpPr>
        <p:spPr>
          <a:xfrm>
            <a:off x="2926080" y="3794760"/>
            <a:ext cx="548640" cy="548640"/>
          </a:xfrm>
          <a:prstGeom prst="ellipse">
            <a:avLst/>
          </a:prstGeom>
          <a:solidFill>
            <a:srgbClr val="0E3B43"/>
          </a:solidFill>
          <a:ln/>
        </p:spPr>
      </p:sp>
      <p:pic>
        <p:nvPicPr>
          <p:cNvPr id="18" name="Image 3" descr="preencoded.png">    </p:cNvPr>
          <p:cNvPicPr>
            <a:picLocks noChangeAspect="1"/>
          </p:cNvPicPr>
          <p:nvPr/>
        </p:nvPicPr>
        <p:blipFill>
          <a:blip r:embed="rId4"/>
          <a:stretch>
            <a:fillRect/>
          </a:stretch>
        </p:blipFill>
        <p:spPr>
          <a:xfrm>
            <a:off x="3057754" y="3926434"/>
            <a:ext cx="285293" cy="285293"/>
          </a:xfrm>
          <a:prstGeom prst="rect">
            <a:avLst/>
          </a:prstGeom>
        </p:spPr>
      </p:pic>
      <p:sp>
        <p:nvSpPr>
          <p:cNvPr id="19" name="Text 13"/>
          <p:cNvSpPr txBox="1"/>
          <p:nvPr/>
        </p:nvSpPr>
        <p:spPr>
          <a:xfrm>
            <a:off x="3657600" y="3694176"/>
            <a:ext cx="4846320" cy="320040"/>
          </a:xfrm>
          <a:prstGeom prst="rect">
            <a:avLst/>
          </a:prstGeom>
          <a:noFill/>
          <a:ln/>
        </p:spPr>
        <p:txBody>
          <a:bodyPr wrap="square" lIns="0" tIns="0" rIns="0" bIns="0" rtlCol="0" anchor="ctr"/>
          <a:lstStyle/>
          <a:p>
            <a:pPr indent="0" marL="0">
              <a:buNone/>
            </a:pPr>
            <a:r>
              <a:rPr lang="en-US" sz="1400" b="1" dirty="0">
                <a:solidFill>
                  <a:srgbClr val="15201F"/>
                </a:solidFill>
                <a:latin typeface="Calibri" pitchFamily="34" charset="0"/>
                <a:ea typeface="Calibri" pitchFamily="34" charset="-122"/>
                <a:cs typeface="Calibri" pitchFamily="34" charset="-120"/>
              </a:rPr>
              <a:t>3. Live everywhere it helps</a:t>
            </a:r>
            <a:endParaRPr lang="en-US" sz="1400" dirty="0"/>
          </a:p>
        </p:txBody>
      </p:sp>
      <p:sp>
        <p:nvSpPr>
          <p:cNvPr id="20" name="Text 14"/>
          <p:cNvSpPr txBox="1"/>
          <p:nvPr/>
        </p:nvSpPr>
        <p:spPr>
          <a:xfrm>
            <a:off x="3657600" y="4023360"/>
            <a:ext cx="4846320" cy="502920"/>
          </a:xfrm>
          <a:prstGeom prst="rect">
            <a:avLst/>
          </a:prstGeom>
          <a:noFill/>
          <a:ln/>
        </p:spPr>
        <p:txBody>
          <a:bodyPr wrap="square" lIns="0" tIns="0" rIns="0" bIns="0" rtlCol="0" anchor="t"/>
          <a:lstStyle/>
          <a:p>
            <a:pPr indent="0" marL="0">
              <a:buNone/>
            </a:pPr>
            <a:r>
              <a:rPr lang="en-US" sz="1150" dirty="0">
                <a:solidFill>
                  <a:srgbClr val="5B6866"/>
                </a:solidFill>
                <a:latin typeface="Calibri" pitchFamily="34" charset="0"/>
                <a:ea typeface="Calibri" pitchFamily="34" charset="-122"/>
                <a:cs typeface="Calibri" pitchFamily="34" charset="-120"/>
              </a:rPr>
              <a:t>Every broker holding the flat, and the customer’s shortlist page — never the flat number.</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694944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Next: one enquiry, every relevant broker</a:t>
            </a:r>
            <a:endParaRPr lang="en-US" sz="2500" dirty="0"/>
          </a:p>
        </p:txBody>
      </p:sp>
      <p:sp>
        <p:nvSpPr>
          <p:cNvPr id="3" name="Shape 1"/>
          <p:cNvSpPr/>
          <p:nvPr/>
        </p:nvSpPr>
        <p:spPr>
          <a:xfrm>
            <a:off x="7635240" y="310896"/>
            <a:ext cx="1051560" cy="310896"/>
          </a:xfrm>
          <a:prstGeom prst="roundRect">
            <a:avLst>
              <a:gd name="adj" fmla="val 50000"/>
            </a:avLst>
          </a:prstGeom>
          <a:solidFill>
            <a:srgbClr val="E8A33D"/>
          </a:solidFill>
          <a:ln/>
        </p:spPr>
      </p:sp>
      <p:sp>
        <p:nvSpPr>
          <p:cNvPr id="4" name="Text 2"/>
          <p:cNvSpPr txBox="1"/>
          <p:nvPr/>
        </p:nvSpPr>
        <p:spPr>
          <a:xfrm>
            <a:off x="7635240" y="310896"/>
            <a:ext cx="1051560" cy="310896"/>
          </a:xfrm>
          <a:prstGeom prst="rect">
            <a:avLst/>
          </a:prstGeom>
          <a:noFill/>
          <a:ln/>
        </p:spPr>
        <p:txBody>
          <a:bodyPr wrap="square" lIns="0" tIns="0" rIns="0" bIns="0" rtlCol="0" anchor="ctr"/>
          <a:lstStyle/>
          <a:p>
            <a:pPr algn="ctr" indent="0" marL="0">
              <a:buNone/>
            </a:pPr>
            <a:r>
              <a:rPr lang="en-US" sz="1100" b="1" spc="200" kern="0" dirty="0">
                <a:solidFill>
                  <a:srgbClr val="15201F"/>
                </a:solidFill>
                <a:latin typeface="Calibri" pitchFamily="34" charset="0"/>
                <a:ea typeface="Calibri" pitchFamily="34" charset="-122"/>
                <a:cs typeface="Calibri" pitchFamily="34" charset="-120"/>
              </a:rPr>
              <a:t>MOAT</a:t>
            </a:r>
            <a:endParaRPr lang="en-US" sz="1100" dirty="0"/>
          </a:p>
        </p:txBody>
      </p:sp>
      <p:sp>
        <p:nvSpPr>
          <p:cNvPr id="5" name="Shape 3"/>
          <p:cNvSpPr/>
          <p:nvPr/>
        </p:nvSpPr>
        <p:spPr>
          <a:xfrm>
            <a:off x="493776" y="1042416"/>
            <a:ext cx="1824228" cy="3538728"/>
          </a:xfrm>
          <a:prstGeom prst="roundRect">
            <a:avLst>
              <a:gd name="adj" fmla="val 7018"/>
            </a:avLst>
          </a:prstGeom>
          <a:solidFill>
            <a:srgbClr val="15201F"/>
          </a:solidFill>
          <a:ln/>
          <a:effectLst>
            <a:outerShdw sx="100000" sy="100000" kx="0" ky="0" algn="bl" rotWithShape="0" blurRad="101600" dist="38100" dir="5400000">
              <a:srgbClr val="000000">
                <a:alpha val="25000"/>
              </a:srgbClr>
            </a:outerShdw>
          </a:effectLst>
        </p:spPr>
      </p:sp>
      <p:pic>
        <p:nvPicPr>
          <p:cNvPr id="6" name="Image 0" descr="/tmp/claude-0/-home-user-SocietyManagement/f8f5daac-a2c6-5a71-ae45-d4f3c625db39/scratchpad/deck/img/leads.jpg">    </p:cNvPr>
          <p:cNvPicPr>
            <a:picLocks noChangeAspect="1"/>
          </p:cNvPicPr>
          <p:nvPr/>
        </p:nvPicPr>
        <p:blipFill>
          <a:blip r:embed="rId1"/>
          <a:stretch>
            <a:fillRect/>
          </a:stretch>
        </p:blipFill>
        <p:spPr>
          <a:xfrm>
            <a:off x="548640" y="1097280"/>
            <a:ext cx="1714500" cy="3429000"/>
          </a:xfrm>
          <a:prstGeom prst="rect">
            <a:avLst/>
          </a:prstGeom>
        </p:spPr>
      </p:pic>
      <p:sp>
        <p:nvSpPr>
          <p:cNvPr id="7" name="Text 4"/>
          <p:cNvSpPr txBox="1"/>
          <p:nvPr/>
        </p:nvSpPr>
        <p:spPr>
          <a:xfrm>
            <a:off x="274320" y="4617720"/>
            <a:ext cx="2263140" cy="274320"/>
          </a:xfrm>
          <a:prstGeom prst="rect">
            <a:avLst/>
          </a:prstGeom>
          <a:noFill/>
          <a:ln/>
        </p:spPr>
        <p:txBody>
          <a:bodyPr wrap="square" lIns="0" tIns="0" rIns="0" bIns="0" rtlCol="0" anchor="ctr"/>
          <a:lstStyle/>
          <a:p>
            <a:pPr algn="ctr" indent="0" marL="0">
              <a:buNone/>
            </a:pPr>
            <a:r>
              <a:rPr lang="en-US" sz="1050" dirty="0">
                <a:solidFill>
                  <a:srgbClr val="5B6866"/>
                </a:solidFill>
                <a:latin typeface="Calibri" pitchFamily="34" charset="0"/>
                <a:ea typeface="Calibri" pitchFamily="34" charset="-122"/>
                <a:cs typeface="Calibri" pitchFamily="34" charset="-120"/>
              </a:rPr>
              <a:t>Broker’s leads</a:t>
            </a:r>
            <a:endParaRPr lang="en-US" sz="1050" dirty="0"/>
          </a:p>
        </p:txBody>
      </p:sp>
      <p:sp>
        <p:nvSpPr>
          <p:cNvPr id="8" name="Text 5"/>
          <p:cNvSpPr txBox="1"/>
          <p:nvPr/>
        </p:nvSpPr>
        <p:spPr>
          <a:xfrm>
            <a:off x="2743200" y="1188720"/>
            <a:ext cx="5943600" cy="361188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rgbClr val="15201F"/>
                </a:solidFill>
                <a:latin typeface="Calibri" pitchFamily="34" charset="0"/>
                <a:ea typeface="Calibri" pitchFamily="34" charset="-122"/>
                <a:cs typeface="Calibri" pitchFamily="34" charset="-120"/>
              </a:rPr>
              <a:t>One enquiry, every nearby broker: </a:t>
            </a:r>
            <a:pPr indent="0" marL="0">
              <a:buNone/>
            </a:pPr>
            <a:r>
              <a:rPr lang="en-US" sz="1300" dirty="0">
                <a:solidFill>
                  <a:srgbClr val="5B6866"/>
                </a:solidFill>
                <a:latin typeface="Calibri" pitchFamily="34" charset="0"/>
                <a:ea typeface="Calibri" pitchFamily="34" charset="-122"/>
                <a:cs typeface="Calibri" pitchFamily="34" charset="-120"/>
              </a:rPr>
              <a:t>the customer posts once; brokers who work in that area get it instantly.</a:t>
            </a:r>
            <a:endParaRPr lang="en-US" sz="1300" dirty="0"/>
          </a:p>
          <a:p>
            <a:pPr marL="177800" indent="-177800">
              <a:spcAft>
                <a:spcPts val="600"/>
              </a:spcAft>
              <a:buSzPct val="100000"/>
              <a:buChar char="•"/>
            </a:pPr>
            <a:r>
              <a:rPr lang="en-US" sz="1300" b="1" dirty="0">
                <a:solidFill>
                  <a:srgbClr val="15201F"/>
                </a:solidFill>
                <a:latin typeface="Calibri" pitchFamily="34" charset="0"/>
                <a:ea typeface="Calibri" pitchFamily="34" charset="-122"/>
                <a:cs typeface="Calibri" pitchFamily="34" charset="-120"/>
              </a:rPr>
              <a:t>Brokers see how many of THEIR flats match </a:t>
            </a:r>
            <a:pPr indent="0" marL="0">
              <a:buNone/>
            </a:pPr>
            <a:r>
              <a:rPr lang="en-US" sz="1300" dirty="0">
                <a:solidFill>
                  <a:srgbClr val="5B6866"/>
                </a:solidFill>
                <a:latin typeface="Calibri" pitchFamily="34" charset="0"/>
                <a:ea typeface="Calibri" pitchFamily="34" charset="-122"/>
                <a:cs typeface="Calibri" pitchFamily="34" charset="-120"/>
              </a:rPr>
              <a:t>before they respond — and reply with their terms and rating.</a:t>
            </a:r>
            <a:endParaRPr lang="en-US" sz="1300" dirty="0"/>
          </a:p>
          <a:p>
            <a:pPr marL="177800" indent="-177800">
              <a:spcAft>
                <a:spcPts val="600"/>
              </a:spcAft>
              <a:buSzPct val="100000"/>
              <a:buChar char="•"/>
            </a:pPr>
            <a:r>
              <a:rPr lang="en-US" sz="1300" b="1" dirty="0">
                <a:solidFill>
                  <a:srgbClr val="15201F"/>
                </a:solidFill>
                <a:latin typeface="Calibri" pitchFamily="34" charset="0"/>
                <a:ea typeface="Calibri" pitchFamily="34" charset="-122"/>
                <a:cs typeface="Calibri" pitchFamily="34" charset="-120"/>
              </a:rPr>
              <a:t>Owners invite brokers </a:t>
            </a:r>
            <a:pPr indent="0" marL="0">
              <a:buNone/>
            </a:pPr>
            <a:r>
              <a:rPr lang="en-US" sz="1300" dirty="0">
                <a:solidFill>
                  <a:srgbClr val="5B6866"/>
                </a:solidFill>
                <a:latin typeface="Calibri" pitchFamily="34" charset="0"/>
                <a:ea typeface="Calibri" pitchFamily="34" charset="-122"/>
                <a:cs typeface="Calibri" pitchFamily="34" charset="-120"/>
              </a:rPr>
              <a:t>from a list of verified brokers near their flat, ranked by rating.</a:t>
            </a:r>
            <a:endParaRPr lang="en-US" sz="1300" dirty="0"/>
          </a:p>
          <a:p>
            <a:pPr marL="177800" indent="-177800">
              <a:spcAft>
                <a:spcPts val="600"/>
              </a:spcAft>
              <a:buSzPct val="100000"/>
              <a:buChar char="•"/>
            </a:pPr>
            <a:r>
              <a:rPr lang="en-US" sz="1300" b="1" dirty="0">
                <a:solidFill>
                  <a:srgbClr val="15201F"/>
                </a:solidFill>
                <a:latin typeface="Calibri" pitchFamily="34" charset="0"/>
                <a:ea typeface="Calibri" pitchFamily="34" charset="-122"/>
                <a:cs typeface="Calibri" pitchFamily="34" charset="-120"/>
              </a:rPr>
              <a:t>Anonymous supply map: </a:t>
            </a:r>
            <a:pPr indent="0" marL="0">
              <a:buNone/>
            </a:pPr>
            <a:r>
              <a:rPr lang="en-US" sz="1300" dirty="0">
                <a:solidFill>
                  <a:srgbClr val="5B6866"/>
                </a:solidFill>
                <a:latin typeface="Calibri" pitchFamily="34" charset="0"/>
                <a:ea typeface="Calibri" pitchFamily="34" charset="-122"/>
                <a:cs typeface="Calibri" pitchFamily="34" charset="-120"/>
              </a:rPr>
              <a:t>customers see where flats are, never whose — small clusters are hidden.</a:t>
            </a:r>
            <a:endParaRPr lang="en-US" sz="1300" dirty="0"/>
          </a:p>
          <a:p>
            <a:pPr marL="177800" indent="-177800">
              <a:spcAft>
                <a:spcPts val="600"/>
              </a:spcAft>
              <a:buSzPct val="100000"/>
              <a:buChar char="•"/>
            </a:pPr>
            <a:r>
              <a:rPr lang="en-US" sz="1300" b="1" dirty="0">
                <a:solidFill>
                  <a:srgbClr val="15201F"/>
                </a:solidFill>
                <a:latin typeface="Calibri" pitchFamily="34" charset="0"/>
                <a:ea typeface="Calibri" pitchFamily="34" charset="-122"/>
                <a:cs typeface="Calibri" pitchFamily="34" charset="-120"/>
              </a:rPr>
              <a:t>Status: </a:t>
            </a:r>
            <a:pPr indent="0" marL="0">
              <a:buNone/>
            </a:pPr>
            <a:r>
              <a:rPr lang="en-US" sz="1300" dirty="0">
                <a:solidFill>
                  <a:srgbClr val="5B6866"/>
                </a:solidFill>
                <a:latin typeface="Calibri" pitchFamily="34" charset="0"/>
                <a:ea typeface="Calibri" pitchFamily="34" charset="-122"/>
                <a:cs typeface="Calibri" pitchFamily="34" charset="-120"/>
              </a:rPr>
              <a:t>built and tested in the backend; switched on after the pilot proves the broker app.</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694944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Trust by design: privacy, audit, compliance</a:t>
            </a:r>
            <a:endParaRPr lang="en-US" sz="2500" dirty="0"/>
          </a:p>
        </p:txBody>
      </p:sp>
      <p:sp>
        <p:nvSpPr>
          <p:cNvPr id="3" name="Shape 1"/>
          <p:cNvSpPr/>
          <p:nvPr/>
        </p:nvSpPr>
        <p:spPr>
          <a:xfrm>
            <a:off x="7635240" y="310896"/>
            <a:ext cx="1051560" cy="310896"/>
          </a:xfrm>
          <a:prstGeom prst="roundRect">
            <a:avLst>
              <a:gd name="adj" fmla="val 50000"/>
            </a:avLst>
          </a:prstGeom>
          <a:solidFill>
            <a:srgbClr val="E8A33D"/>
          </a:solidFill>
          <a:ln/>
        </p:spPr>
      </p:sp>
      <p:sp>
        <p:nvSpPr>
          <p:cNvPr id="4" name="Text 2"/>
          <p:cNvSpPr txBox="1"/>
          <p:nvPr/>
        </p:nvSpPr>
        <p:spPr>
          <a:xfrm>
            <a:off x="7635240" y="310896"/>
            <a:ext cx="1051560" cy="310896"/>
          </a:xfrm>
          <a:prstGeom prst="rect">
            <a:avLst/>
          </a:prstGeom>
          <a:noFill/>
          <a:ln/>
        </p:spPr>
        <p:txBody>
          <a:bodyPr wrap="square" lIns="0" tIns="0" rIns="0" bIns="0" rtlCol="0" anchor="ctr"/>
          <a:lstStyle/>
          <a:p>
            <a:pPr algn="ctr" indent="0" marL="0">
              <a:buNone/>
            </a:pPr>
            <a:r>
              <a:rPr lang="en-US" sz="1100" b="1" spc="200" kern="0" dirty="0">
                <a:solidFill>
                  <a:srgbClr val="15201F"/>
                </a:solidFill>
                <a:latin typeface="Calibri" pitchFamily="34" charset="0"/>
                <a:ea typeface="Calibri" pitchFamily="34" charset="-122"/>
                <a:cs typeface="Calibri" pitchFamily="34" charset="-120"/>
              </a:rPr>
              <a:t>MOAT</a:t>
            </a:r>
            <a:endParaRPr lang="en-US" sz="1100" dirty="0"/>
          </a:p>
        </p:txBody>
      </p:sp>
      <p:pic>
        <p:nvPicPr>
          <p:cNvPr id="5" name="Image 0" descr="/tmp/claude-0/-home-user-SocietyManagement/f8f5daac-a2c6-5a71-ae45-d4f3c625db39/scratchpad/deck/img/ops_brokers.jpg">    </p:cNvPr>
          <p:cNvPicPr>
            <a:picLocks noChangeAspect="1"/>
          </p:cNvPicPr>
          <p:nvPr/>
        </p:nvPicPr>
        <p:blipFill>
          <a:blip r:embed="rId1"/>
          <a:stretch>
            <a:fillRect/>
          </a:stretch>
        </p:blipFill>
        <p:spPr>
          <a:xfrm>
            <a:off x="457200" y="1188720"/>
            <a:ext cx="4023360" cy="1307592"/>
          </a:xfrm>
          <a:prstGeom prst="rect">
            <a:avLst/>
          </a:prstGeom>
        </p:spPr>
      </p:pic>
      <p:sp>
        <p:nvSpPr>
          <p:cNvPr id="6" name="Shape 3"/>
          <p:cNvSpPr/>
          <p:nvPr/>
        </p:nvSpPr>
        <p:spPr>
          <a:xfrm>
            <a:off x="457200" y="1188720"/>
            <a:ext cx="4023360" cy="1307592"/>
          </a:xfrm>
          <a:prstGeom prst="rect">
            <a:avLst/>
          </a:prstGeom>
          <a:ln w="9525">
            <a:solidFill>
              <a:srgbClr val="C9D2CF"/>
            </a:solidFill>
            <a:prstDash val="solid"/>
          </a:ln>
        </p:spPr>
      </p:sp>
      <p:pic>
        <p:nvPicPr>
          <p:cNvPr id="7" name="Image 1" descr="/tmp/claude-0/-home-user-SocietyManagement/f8f5daac-a2c6-5a71-ae45-d4f3c625db39/scratchpad/deck/img/ops_audit.jpg">    </p:cNvPr>
          <p:cNvPicPr>
            <a:picLocks noChangeAspect="1"/>
          </p:cNvPicPr>
          <p:nvPr/>
        </p:nvPicPr>
        <p:blipFill>
          <a:blip r:embed="rId2"/>
          <a:stretch>
            <a:fillRect/>
          </a:stretch>
        </p:blipFill>
        <p:spPr>
          <a:xfrm>
            <a:off x="457200" y="2743200"/>
            <a:ext cx="4023360" cy="1307592"/>
          </a:xfrm>
          <a:prstGeom prst="rect">
            <a:avLst/>
          </a:prstGeom>
        </p:spPr>
      </p:pic>
      <p:sp>
        <p:nvSpPr>
          <p:cNvPr id="8" name="Shape 4"/>
          <p:cNvSpPr/>
          <p:nvPr/>
        </p:nvSpPr>
        <p:spPr>
          <a:xfrm>
            <a:off x="457200" y="2743200"/>
            <a:ext cx="4023360" cy="1307592"/>
          </a:xfrm>
          <a:prstGeom prst="rect">
            <a:avLst/>
          </a:prstGeom>
          <a:ln w="9525">
            <a:solidFill>
              <a:srgbClr val="C9D2CF"/>
            </a:solidFill>
            <a:prstDash val="solid"/>
          </a:ln>
        </p:spPr>
      </p:sp>
      <p:sp>
        <p:nvSpPr>
          <p:cNvPr id="9" name="Text 5"/>
          <p:cNvSpPr txBox="1"/>
          <p:nvPr/>
        </p:nvSpPr>
        <p:spPr>
          <a:xfrm>
            <a:off x="457200" y="4114800"/>
            <a:ext cx="4023360" cy="274320"/>
          </a:xfrm>
          <a:prstGeom prst="rect">
            <a:avLst/>
          </a:prstGeom>
          <a:noFill/>
          <a:ln/>
        </p:spPr>
        <p:txBody>
          <a:bodyPr wrap="square" lIns="0" tIns="0" rIns="0" bIns="0" rtlCol="0" anchor="ctr"/>
          <a:lstStyle/>
          <a:p>
            <a:pPr indent="0" marL="0">
              <a:buNone/>
            </a:pPr>
            <a:r>
              <a:rPr lang="en-US" sz="1050" dirty="0">
                <a:solidFill>
                  <a:srgbClr val="5B6866"/>
                </a:solidFill>
                <a:latin typeface="Calibri" pitchFamily="34" charset="0"/>
                <a:ea typeface="Calibri" pitchFamily="34" charset="-122"/>
                <a:cs typeface="Calibri" pitchFamily="34" charset="-120"/>
              </a:rPr>
              <a:t>Ops console: broker verification (RERA) and tamper check</a:t>
            </a:r>
            <a:endParaRPr lang="en-US" sz="1050" dirty="0"/>
          </a:p>
        </p:txBody>
      </p:sp>
      <p:sp>
        <p:nvSpPr>
          <p:cNvPr id="10" name="Text 6"/>
          <p:cNvSpPr txBox="1"/>
          <p:nvPr/>
        </p:nvSpPr>
        <p:spPr>
          <a:xfrm>
            <a:off x="4754880" y="1188720"/>
            <a:ext cx="3931920" cy="361188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rgbClr val="15201F"/>
                </a:solidFill>
                <a:latin typeface="Calibri" pitchFamily="34" charset="0"/>
                <a:ea typeface="Calibri" pitchFamily="34" charset="-122"/>
                <a:cs typeface="Calibri" pitchFamily="34" charset="-120"/>
              </a:rPr>
              <a:t>Each broker’s data is walled off by the database itself </a:t>
            </a:r>
            <a:pPr indent="0" marL="0">
              <a:buNone/>
            </a:pPr>
            <a:r>
              <a:rPr lang="en-US" sz="1200" dirty="0">
                <a:solidFill>
                  <a:srgbClr val="5B6866"/>
                </a:solidFill>
                <a:latin typeface="Calibri" pitchFamily="34" charset="0"/>
                <a:ea typeface="Calibri" pitchFamily="34" charset="-122"/>
                <a:cs typeface="Calibri" pitchFamily="34" charset="-120"/>
              </a:rPr>
              <a:t>— checked by automated tests on every change.</a:t>
            </a:r>
            <a:endParaRPr lang="en-US" sz="1200" dirty="0"/>
          </a:p>
          <a:p>
            <a:pPr marL="177800" indent="-177800">
              <a:spcAft>
                <a:spcPts val="500"/>
              </a:spcAft>
              <a:buSzPct val="100000"/>
              <a:buChar char="•"/>
            </a:pPr>
            <a:r>
              <a:rPr lang="en-US" sz="1200" b="1" dirty="0">
                <a:solidFill>
                  <a:srgbClr val="15201F"/>
                </a:solidFill>
                <a:latin typeface="Calibri" pitchFamily="34" charset="0"/>
                <a:ea typeface="Calibri" pitchFamily="34" charset="-122"/>
                <a:cs typeface="Calibri" pitchFamily="34" charset="-120"/>
              </a:rPr>
              <a:t>Tamper-evident audit trail </a:t>
            </a:r>
            <a:pPr indent="0" marL="0">
              <a:buNone/>
            </a:pPr>
            <a:r>
              <a:rPr lang="en-US" sz="1200" dirty="0">
                <a:solidFill>
                  <a:srgbClr val="5B6866"/>
                </a:solidFill>
                <a:latin typeface="Calibri" pitchFamily="34" charset="0"/>
                <a:ea typeface="Calibri" pitchFamily="34" charset="-122"/>
                <a:cs typeface="Calibri" pitchFamily="34" charset="-120"/>
              </a:rPr>
              <a:t>and flat-status history: any altered record is detected.</a:t>
            </a:r>
            <a:endParaRPr lang="en-US" sz="1200" dirty="0"/>
          </a:p>
          <a:p>
            <a:pPr marL="177800" indent="-177800">
              <a:spcAft>
                <a:spcPts val="500"/>
              </a:spcAft>
              <a:buSzPct val="100000"/>
              <a:buChar char="•"/>
            </a:pPr>
            <a:r>
              <a:rPr lang="en-US" sz="1200" b="1" dirty="0">
                <a:solidFill>
                  <a:srgbClr val="15201F"/>
                </a:solidFill>
                <a:latin typeface="Calibri" pitchFamily="34" charset="0"/>
                <a:ea typeface="Calibri" pitchFamily="34" charset="-122"/>
                <a:cs typeface="Calibri" pitchFamily="34" charset="-120"/>
              </a:rPr>
              <a:t>Phone numbers encrypted; </a:t>
            </a:r>
            <a:pPr indent="0" marL="0">
              <a:buNone/>
            </a:pPr>
            <a:r>
              <a:rPr lang="en-US" sz="1200" dirty="0">
                <a:solidFill>
                  <a:srgbClr val="5B6866"/>
                </a:solidFill>
                <a:latin typeface="Calibri" pitchFamily="34" charset="0"/>
                <a:ea typeface="Calibri" pitchFamily="34" charset="-122"/>
                <a:cs typeface="Calibri" pitchFamily="34" charset="-120"/>
              </a:rPr>
              <a:t>owner numbers never reach customers or field staff.</a:t>
            </a:r>
            <a:endParaRPr lang="en-US" sz="1200" dirty="0"/>
          </a:p>
          <a:p>
            <a:pPr marL="177800" indent="-177800">
              <a:spcAft>
                <a:spcPts val="500"/>
              </a:spcAft>
              <a:buSzPct val="100000"/>
              <a:buChar char="•"/>
            </a:pPr>
            <a:r>
              <a:rPr lang="en-US" sz="1200" b="1" dirty="0">
                <a:solidFill>
                  <a:srgbClr val="15201F"/>
                </a:solidFill>
                <a:latin typeface="Calibri" pitchFamily="34" charset="0"/>
                <a:ea typeface="Calibri" pitchFamily="34" charset="-122"/>
                <a:cs typeface="Calibri" pitchFamily="34" charset="-120"/>
              </a:rPr>
              <a:t>Customer consent recorded </a:t>
            </a:r>
            <a:pPr indent="0" marL="0">
              <a:buNone/>
            </a:pPr>
            <a:r>
              <a:rPr lang="en-US" sz="1200" dirty="0">
                <a:solidFill>
                  <a:srgbClr val="5B6866"/>
                </a:solidFill>
                <a:latin typeface="Calibri" pitchFamily="34" charset="0"/>
                <a:ea typeface="Calibri" pitchFamily="34" charset="-122"/>
                <a:cs typeface="Calibri" pitchFamily="34" charset="-120"/>
              </a:rPr>
              <a:t>(OTP, link or verbal) — ready for India’s DPDP Act.</a:t>
            </a:r>
            <a:endParaRPr lang="en-US" sz="1200" dirty="0"/>
          </a:p>
          <a:p>
            <a:pPr marL="177800" indent="-177800">
              <a:spcAft>
                <a:spcPts val="500"/>
              </a:spcAft>
              <a:buSzPct val="100000"/>
              <a:buChar char="•"/>
            </a:pPr>
            <a:r>
              <a:rPr lang="en-US" sz="1200" b="1" dirty="0">
                <a:solidFill>
                  <a:srgbClr val="15201F"/>
                </a:solidFill>
                <a:latin typeface="Calibri" pitchFamily="34" charset="0"/>
                <a:ea typeface="Calibri" pitchFamily="34" charset="-122"/>
                <a:cs typeface="Calibri" pitchFamily="34" charset="-120"/>
              </a:rPr>
              <a:t>Brokers verified </a:t>
            </a:r>
            <a:pPr indent="0" marL="0">
              <a:buNone/>
            </a:pPr>
            <a:r>
              <a:rPr lang="en-US" sz="1200" dirty="0">
                <a:solidFill>
                  <a:srgbClr val="5B6866"/>
                </a:solidFill>
                <a:latin typeface="Calibri" pitchFamily="34" charset="0"/>
                <a:ea typeface="Calibri" pitchFamily="34" charset="-122"/>
                <a:cs typeface="Calibri" pitchFamily="34" charset="-120"/>
              </a:rPr>
              <a:t>by our team, with MahaRERA number check.</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3B43"/>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t"/>
          <a:lstStyle/>
          <a:p>
            <a:pPr indent="0" marL="0">
              <a:buNone/>
            </a:pPr>
            <a:r>
              <a:rPr lang="en-US" sz="2500" b="1" dirty="0">
                <a:solidFill>
                  <a:srgbClr val="FFFFFF"/>
                </a:solidFill>
                <a:latin typeface="Cambria" pitchFamily="34" charset="0"/>
                <a:ea typeface="Cambria" pitchFamily="34" charset="-122"/>
                <a:cs typeface="Cambria" pitchFamily="34" charset="-120"/>
              </a:rPr>
              <a:t>Why this is hard to copy</a:t>
            </a:r>
            <a:endParaRPr lang="en-US" sz="2500" dirty="0"/>
          </a:p>
        </p:txBody>
      </p:sp>
      <p:sp>
        <p:nvSpPr>
          <p:cNvPr id="3" name="Shape 1"/>
          <p:cNvSpPr/>
          <p:nvPr/>
        </p:nvSpPr>
        <p:spPr>
          <a:xfrm>
            <a:off x="457200" y="1234440"/>
            <a:ext cx="1554480" cy="3383280"/>
          </a:xfrm>
          <a:prstGeom prst="roundRect">
            <a:avLst>
              <a:gd name="adj" fmla="val 4706"/>
            </a:avLst>
          </a:prstGeom>
          <a:solidFill>
            <a:srgbClr val="15505A"/>
          </a:solidFill>
          <a:ln/>
        </p:spPr>
      </p:sp>
      <p:sp>
        <p:nvSpPr>
          <p:cNvPr id="4" name="Shape 2"/>
          <p:cNvSpPr/>
          <p:nvPr/>
        </p:nvSpPr>
        <p:spPr>
          <a:xfrm>
            <a:off x="960120" y="1463040"/>
            <a:ext cx="548640" cy="54864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91794" y="1594714"/>
            <a:ext cx="285293" cy="285293"/>
          </a:xfrm>
          <a:prstGeom prst="rect">
            <a:avLst/>
          </a:prstGeom>
        </p:spPr>
      </p:pic>
      <p:sp>
        <p:nvSpPr>
          <p:cNvPr id="6" name="Text 3"/>
          <p:cNvSpPr txBox="1"/>
          <p:nvPr/>
        </p:nvSpPr>
        <p:spPr>
          <a:xfrm>
            <a:off x="566928" y="2194560"/>
            <a:ext cx="1335024" cy="68580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Data that gets cleaner with use</a:t>
            </a:r>
            <a:endParaRPr lang="en-US" sz="1300" dirty="0"/>
          </a:p>
        </p:txBody>
      </p:sp>
      <p:sp>
        <p:nvSpPr>
          <p:cNvPr id="7" name="Text 4"/>
          <p:cNvSpPr txBox="1"/>
          <p:nvPr/>
        </p:nvSpPr>
        <p:spPr>
          <a:xfrm>
            <a:off x="566928" y="2926080"/>
            <a:ext cx="1335024" cy="1600200"/>
          </a:xfrm>
          <a:prstGeom prst="rect">
            <a:avLst/>
          </a:prstGeom>
          <a:noFill/>
          <a:ln/>
        </p:spPr>
        <p:txBody>
          <a:bodyPr wrap="square" lIns="0" tIns="0" rIns="0" bIns="0" rtlCol="0" anchor="t"/>
          <a:lstStyle/>
          <a:p>
            <a:pPr algn="ctr" indent="0" marL="0">
              <a:buNone/>
            </a:pPr>
            <a:r>
              <a:rPr lang="en-US" sz="1100" dirty="0">
                <a:solidFill>
                  <a:srgbClr val="DCEBE8"/>
                </a:solidFill>
                <a:latin typeface="Calibri" pitchFamily="34" charset="0"/>
                <a:ea typeface="Calibri" pitchFamily="34" charset="-122"/>
                <a:cs typeface="Calibri" pitchFamily="34" charset="-120"/>
              </a:rPr>
              <a:t>Closed universe of buildings, learned spellings and wing layouts — every upload improves it.</a:t>
            </a:r>
            <a:endParaRPr lang="en-US" sz="1100" dirty="0"/>
          </a:p>
        </p:txBody>
      </p:sp>
      <p:sp>
        <p:nvSpPr>
          <p:cNvPr id="8" name="Shape 5"/>
          <p:cNvSpPr/>
          <p:nvPr/>
        </p:nvSpPr>
        <p:spPr>
          <a:xfrm>
            <a:off x="2139696" y="1234440"/>
            <a:ext cx="1554480" cy="3383280"/>
          </a:xfrm>
          <a:prstGeom prst="roundRect">
            <a:avLst>
              <a:gd name="adj" fmla="val 4706"/>
            </a:avLst>
          </a:prstGeom>
          <a:solidFill>
            <a:srgbClr val="15505A"/>
          </a:solidFill>
          <a:ln/>
        </p:spPr>
      </p:sp>
      <p:sp>
        <p:nvSpPr>
          <p:cNvPr id="9" name="Shape 6"/>
          <p:cNvSpPr/>
          <p:nvPr/>
        </p:nvSpPr>
        <p:spPr>
          <a:xfrm>
            <a:off x="2642616" y="1463040"/>
            <a:ext cx="548640" cy="548640"/>
          </a:xfrm>
          <a:prstGeom prst="ellipse">
            <a:avLst/>
          </a:prstGeom>
          <a:solidFill>
            <a:srgbClr val="E8A33D"/>
          </a:solidFill>
          <a:ln/>
        </p:spPr>
      </p:sp>
      <p:pic>
        <p:nvPicPr>
          <p:cNvPr id="10" name="Image 1" descr="preencoded.png">    </p:cNvPr>
          <p:cNvPicPr>
            <a:picLocks noChangeAspect="1"/>
          </p:cNvPicPr>
          <p:nvPr/>
        </p:nvPicPr>
        <p:blipFill>
          <a:blip r:embed="rId2"/>
          <a:stretch>
            <a:fillRect/>
          </a:stretch>
        </p:blipFill>
        <p:spPr>
          <a:xfrm>
            <a:off x="2774290" y="1594714"/>
            <a:ext cx="285293" cy="285293"/>
          </a:xfrm>
          <a:prstGeom prst="rect">
            <a:avLst/>
          </a:prstGeom>
        </p:spPr>
      </p:pic>
      <p:sp>
        <p:nvSpPr>
          <p:cNvPr id="11" name="Text 7"/>
          <p:cNvSpPr txBox="1"/>
          <p:nvPr/>
        </p:nvSpPr>
        <p:spPr>
          <a:xfrm>
            <a:off x="2249424" y="2194560"/>
            <a:ext cx="1335024" cy="68580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Brokers’ two assets live here</a:t>
            </a:r>
            <a:endParaRPr lang="en-US" sz="1300" dirty="0"/>
          </a:p>
        </p:txBody>
      </p:sp>
      <p:sp>
        <p:nvSpPr>
          <p:cNvPr id="12" name="Text 8"/>
          <p:cNvSpPr txBox="1"/>
          <p:nvPr/>
        </p:nvSpPr>
        <p:spPr>
          <a:xfrm>
            <a:off x="2249424" y="2926080"/>
            <a:ext cx="1335024" cy="1600200"/>
          </a:xfrm>
          <a:prstGeom prst="rect">
            <a:avLst/>
          </a:prstGeom>
          <a:noFill/>
          <a:ln/>
        </p:spPr>
        <p:txBody>
          <a:bodyPr wrap="square" lIns="0" tIns="0" rIns="0" bIns="0" rtlCol="0" anchor="t"/>
          <a:lstStyle/>
          <a:p>
            <a:pPr algn="ctr" indent="0" marL="0">
              <a:buNone/>
            </a:pPr>
            <a:r>
              <a:rPr lang="en-US" sz="1100" dirty="0">
                <a:solidFill>
                  <a:srgbClr val="DCEBE8"/>
                </a:solidFill>
                <a:latin typeface="Calibri" pitchFamily="34" charset="0"/>
                <a:ea typeface="Calibri" pitchFamily="34" charset="-122"/>
                <a:cs typeface="Calibri" pitchFamily="34" charset="-120"/>
              </a:rPr>
              <a:t>Flats and customers, with their full history — switching away means leaving the business behind.</a:t>
            </a:r>
            <a:endParaRPr lang="en-US" sz="1100" dirty="0"/>
          </a:p>
        </p:txBody>
      </p:sp>
      <p:sp>
        <p:nvSpPr>
          <p:cNvPr id="13" name="Shape 9"/>
          <p:cNvSpPr/>
          <p:nvPr/>
        </p:nvSpPr>
        <p:spPr>
          <a:xfrm>
            <a:off x="3822192" y="1234440"/>
            <a:ext cx="1554480" cy="3383280"/>
          </a:xfrm>
          <a:prstGeom prst="roundRect">
            <a:avLst>
              <a:gd name="adj" fmla="val 4706"/>
            </a:avLst>
          </a:prstGeom>
          <a:solidFill>
            <a:srgbClr val="15505A"/>
          </a:solidFill>
          <a:ln/>
        </p:spPr>
      </p:sp>
      <p:sp>
        <p:nvSpPr>
          <p:cNvPr id="14" name="Shape 10"/>
          <p:cNvSpPr/>
          <p:nvPr/>
        </p:nvSpPr>
        <p:spPr>
          <a:xfrm>
            <a:off x="4325112" y="1463040"/>
            <a:ext cx="548640" cy="548640"/>
          </a:xfrm>
          <a:prstGeom prst="ellipse">
            <a:avLst/>
          </a:prstGeom>
          <a:solidFill>
            <a:srgbClr val="E8A33D"/>
          </a:solidFill>
          <a:ln/>
        </p:spPr>
      </p:sp>
      <p:pic>
        <p:nvPicPr>
          <p:cNvPr id="15" name="Image 2" descr="preencoded.png">    </p:cNvPr>
          <p:cNvPicPr>
            <a:picLocks noChangeAspect="1"/>
          </p:cNvPicPr>
          <p:nvPr/>
        </p:nvPicPr>
        <p:blipFill>
          <a:blip r:embed="rId3"/>
          <a:stretch>
            <a:fillRect/>
          </a:stretch>
        </p:blipFill>
        <p:spPr>
          <a:xfrm>
            <a:off x="4456786" y="1594714"/>
            <a:ext cx="285293" cy="285293"/>
          </a:xfrm>
          <a:prstGeom prst="rect">
            <a:avLst/>
          </a:prstGeom>
        </p:spPr>
      </p:pic>
      <p:sp>
        <p:nvSpPr>
          <p:cNvPr id="16" name="Text 11"/>
          <p:cNvSpPr txBox="1"/>
          <p:nvPr/>
        </p:nvSpPr>
        <p:spPr>
          <a:xfrm>
            <a:off x="3931920" y="2194560"/>
            <a:ext cx="1335024" cy="68580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Owners trust the tick</a:t>
            </a:r>
            <a:endParaRPr lang="en-US" sz="1300" dirty="0"/>
          </a:p>
        </p:txBody>
      </p:sp>
      <p:sp>
        <p:nvSpPr>
          <p:cNvPr id="17" name="Text 12"/>
          <p:cNvSpPr txBox="1"/>
          <p:nvPr/>
        </p:nvSpPr>
        <p:spPr>
          <a:xfrm>
            <a:off x="3931920" y="2926080"/>
            <a:ext cx="1335024" cy="1600200"/>
          </a:xfrm>
          <a:prstGeom prst="rect">
            <a:avLst/>
          </a:prstGeom>
          <a:noFill/>
          <a:ln/>
        </p:spPr>
        <p:txBody>
          <a:bodyPr wrap="square" lIns="0" tIns="0" rIns="0" bIns="0" rtlCol="0" anchor="t"/>
          <a:lstStyle/>
          <a:p>
            <a:pPr algn="ctr" indent="0" marL="0">
              <a:buNone/>
            </a:pPr>
            <a:r>
              <a:rPr lang="en-US" sz="1100" dirty="0">
                <a:solidFill>
                  <a:srgbClr val="DCEBE8"/>
                </a:solidFill>
                <a:latin typeface="Calibri" pitchFamily="34" charset="0"/>
                <a:ea typeface="Calibri" pitchFamily="34" charset="-122"/>
                <a:cs typeface="Calibri" pitchFamily="34" charset="-120"/>
              </a:rPr>
              <a:t>Owner control and reviews make owners send flats to brokers through us.</a:t>
            </a:r>
            <a:endParaRPr lang="en-US" sz="1100" dirty="0"/>
          </a:p>
        </p:txBody>
      </p:sp>
      <p:sp>
        <p:nvSpPr>
          <p:cNvPr id="18" name="Shape 13"/>
          <p:cNvSpPr/>
          <p:nvPr/>
        </p:nvSpPr>
        <p:spPr>
          <a:xfrm>
            <a:off x="5504688" y="1234440"/>
            <a:ext cx="1554480" cy="3383280"/>
          </a:xfrm>
          <a:prstGeom prst="roundRect">
            <a:avLst>
              <a:gd name="adj" fmla="val 4706"/>
            </a:avLst>
          </a:prstGeom>
          <a:solidFill>
            <a:srgbClr val="15505A"/>
          </a:solidFill>
          <a:ln/>
        </p:spPr>
      </p:sp>
      <p:sp>
        <p:nvSpPr>
          <p:cNvPr id="19" name="Shape 14"/>
          <p:cNvSpPr/>
          <p:nvPr/>
        </p:nvSpPr>
        <p:spPr>
          <a:xfrm>
            <a:off x="6007608" y="1463040"/>
            <a:ext cx="548640" cy="548640"/>
          </a:xfrm>
          <a:prstGeom prst="ellipse">
            <a:avLst/>
          </a:prstGeom>
          <a:solidFill>
            <a:srgbClr val="E8A33D"/>
          </a:solidFill>
          <a:ln/>
        </p:spPr>
      </p:sp>
      <p:pic>
        <p:nvPicPr>
          <p:cNvPr id="20" name="Image 3" descr="preencoded.png">    </p:cNvPr>
          <p:cNvPicPr>
            <a:picLocks noChangeAspect="1"/>
          </p:cNvPicPr>
          <p:nvPr/>
        </p:nvPicPr>
        <p:blipFill>
          <a:blip r:embed="rId4"/>
          <a:stretch>
            <a:fillRect/>
          </a:stretch>
        </p:blipFill>
        <p:spPr>
          <a:xfrm>
            <a:off x="6139282" y="1594714"/>
            <a:ext cx="285293" cy="285293"/>
          </a:xfrm>
          <a:prstGeom prst="rect">
            <a:avLst/>
          </a:prstGeom>
        </p:spPr>
      </p:pic>
      <p:sp>
        <p:nvSpPr>
          <p:cNvPr id="21" name="Text 15"/>
          <p:cNvSpPr txBox="1"/>
          <p:nvPr/>
        </p:nvSpPr>
        <p:spPr>
          <a:xfrm>
            <a:off x="5614416" y="2194560"/>
            <a:ext cx="1335024" cy="68580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Offline reach loop</a:t>
            </a:r>
            <a:endParaRPr lang="en-US" sz="1300" dirty="0"/>
          </a:p>
        </p:txBody>
      </p:sp>
      <p:sp>
        <p:nvSpPr>
          <p:cNvPr id="22" name="Text 16"/>
          <p:cNvSpPr txBox="1"/>
          <p:nvPr/>
        </p:nvSpPr>
        <p:spPr>
          <a:xfrm>
            <a:off x="5614416" y="2926080"/>
            <a:ext cx="1335024" cy="1600200"/>
          </a:xfrm>
          <a:prstGeom prst="rect">
            <a:avLst/>
          </a:prstGeom>
          <a:noFill/>
          <a:ln/>
        </p:spPr>
        <p:txBody>
          <a:bodyPr wrap="square" lIns="0" tIns="0" rIns="0" bIns="0" rtlCol="0" anchor="t"/>
          <a:lstStyle/>
          <a:p>
            <a:pPr algn="ctr" indent="0" marL="0">
              <a:buNone/>
            </a:pPr>
            <a:r>
              <a:rPr lang="en-US" sz="1100" dirty="0">
                <a:solidFill>
                  <a:srgbClr val="DCEBE8"/>
                </a:solidFill>
                <a:latin typeface="Calibri" pitchFamily="34" charset="0"/>
                <a:ea typeface="Calibri" pitchFamily="34" charset="-122"/>
                <a:cs typeface="Calibri" pitchFamily="34" charset="-120"/>
              </a:rPr>
              <a:t>Links and broadcasts pull walk-in customers onto the platform, broker by broker.</a:t>
            </a:r>
            <a:endParaRPr lang="en-US" sz="1100" dirty="0"/>
          </a:p>
        </p:txBody>
      </p:sp>
      <p:sp>
        <p:nvSpPr>
          <p:cNvPr id="23" name="Shape 17"/>
          <p:cNvSpPr/>
          <p:nvPr/>
        </p:nvSpPr>
        <p:spPr>
          <a:xfrm>
            <a:off x="7187184" y="1234440"/>
            <a:ext cx="1554480" cy="3383280"/>
          </a:xfrm>
          <a:prstGeom prst="roundRect">
            <a:avLst>
              <a:gd name="adj" fmla="val 4706"/>
            </a:avLst>
          </a:prstGeom>
          <a:solidFill>
            <a:srgbClr val="15505A"/>
          </a:solidFill>
          <a:ln/>
        </p:spPr>
      </p:sp>
      <p:sp>
        <p:nvSpPr>
          <p:cNvPr id="24" name="Shape 18"/>
          <p:cNvSpPr/>
          <p:nvPr/>
        </p:nvSpPr>
        <p:spPr>
          <a:xfrm>
            <a:off x="7690104" y="1463040"/>
            <a:ext cx="548640" cy="548640"/>
          </a:xfrm>
          <a:prstGeom prst="ellipse">
            <a:avLst/>
          </a:prstGeom>
          <a:solidFill>
            <a:srgbClr val="E8A33D"/>
          </a:solidFill>
          <a:ln/>
        </p:spPr>
      </p:sp>
      <p:pic>
        <p:nvPicPr>
          <p:cNvPr id="25" name="Image 4" descr="preencoded.png">    </p:cNvPr>
          <p:cNvPicPr>
            <a:picLocks noChangeAspect="1"/>
          </p:cNvPicPr>
          <p:nvPr/>
        </p:nvPicPr>
        <p:blipFill>
          <a:blip r:embed="rId5"/>
          <a:stretch>
            <a:fillRect/>
          </a:stretch>
        </p:blipFill>
        <p:spPr>
          <a:xfrm>
            <a:off x="7821778" y="1594714"/>
            <a:ext cx="285293" cy="285293"/>
          </a:xfrm>
          <a:prstGeom prst="rect">
            <a:avLst/>
          </a:prstGeom>
        </p:spPr>
      </p:pic>
      <p:sp>
        <p:nvSpPr>
          <p:cNvPr id="26" name="Text 19"/>
          <p:cNvSpPr txBox="1"/>
          <p:nvPr/>
        </p:nvSpPr>
        <p:spPr>
          <a:xfrm>
            <a:off x="7296912" y="2194560"/>
            <a:ext cx="1335024" cy="68580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Trust by design</a:t>
            </a:r>
            <a:endParaRPr lang="en-US" sz="1300" dirty="0"/>
          </a:p>
        </p:txBody>
      </p:sp>
      <p:sp>
        <p:nvSpPr>
          <p:cNvPr id="27" name="Text 20"/>
          <p:cNvSpPr txBox="1"/>
          <p:nvPr/>
        </p:nvSpPr>
        <p:spPr>
          <a:xfrm>
            <a:off x="7296912" y="2926080"/>
            <a:ext cx="1335024" cy="1600200"/>
          </a:xfrm>
          <a:prstGeom prst="rect">
            <a:avLst/>
          </a:prstGeom>
          <a:noFill/>
          <a:ln/>
        </p:spPr>
        <p:txBody>
          <a:bodyPr wrap="square" lIns="0" tIns="0" rIns="0" bIns="0" rtlCol="0" anchor="t"/>
          <a:lstStyle/>
          <a:p>
            <a:pPr algn="ctr" indent="0" marL="0">
              <a:buNone/>
            </a:pPr>
            <a:r>
              <a:rPr lang="en-US" sz="1100" dirty="0">
                <a:solidFill>
                  <a:srgbClr val="DCEBE8"/>
                </a:solidFill>
                <a:latin typeface="Calibri" pitchFamily="34" charset="0"/>
                <a:ea typeface="Calibri" pitchFamily="34" charset="-122"/>
                <a:cs typeface="Calibri" pitchFamily="34" charset="-120"/>
              </a:rPr>
              <a:t>Isolation, audit and consent built in from day one — slow and costly to retrofit.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777240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How we make money (to be tested in the pilot)</a:t>
            </a:r>
            <a:endParaRPr lang="en-US" sz="2500" dirty="0"/>
          </a:p>
        </p:txBody>
      </p:sp>
      <p:sp>
        <p:nvSpPr>
          <p:cNvPr id="3" name="Shape 1"/>
          <p:cNvSpPr/>
          <p:nvPr/>
        </p:nvSpPr>
        <p:spPr>
          <a:xfrm>
            <a:off x="457200" y="1234440"/>
            <a:ext cx="2606040" cy="2651760"/>
          </a:xfrm>
          <a:prstGeom prst="roundRect">
            <a:avLst>
              <a:gd name="adj" fmla="val 2807"/>
            </a:avLst>
          </a:prstGeom>
          <a:solidFill>
            <a:srgbClr val="FFFFFF"/>
          </a:solidFill>
          <a:ln w="9525">
            <a:solidFill>
              <a:srgbClr val="DCE2DF"/>
            </a:solidFill>
            <a:prstDash val="solid"/>
          </a:ln>
        </p:spPr>
      </p:sp>
      <p:sp>
        <p:nvSpPr>
          <p:cNvPr id="4" name="Shape 2"/>
          <p:cNvSpPr/>
          <p:nvPr/>
        </p:nvSpPr>
        <p:spPr>
          <a:xfrm>
            <a:off x="685800" y="1463040"/>
            <a:ext cx="548640" cy="548640"/>
          </a:xfrm>
          <a:prstGeom prst="ellipse">
            <a:avLst/>
          </a:prstGeom>
          <a:solidFill>
            <a:srgbClr val="0E3B43"/>
          </a:solidFill>
          <a:ln/>
        </p:spPr>
      </p:sp>
      <p:pic>
        <p:nvPicPr>
          <p:cNvPr id="5" name="Image 0" descr="preencoded.png">    </p:cNvPr>
          <p:cNvPicPr>
            <a:picLocks noChangeAspect="1"/>
          </p:cNvPicPr>
          <p:nvPr/>
        </p:nvPicPr>
        <p:blipFill>
          <a:blip r:embed="rId1"/>
          <a:stretch>
            <a:fillRect/>
          </a:stretch>
        </p:blipFill>
        <p:spPr>
          <a:xfrm>
            <a:off x="817474" y="1594714"/>
            <a:ext cx="285293" cy="285293"/>
          </a:xfrm>
          <a:prstGeom prst="rect">
            <a:avLst/>
          </a:prstGeom>
        </p:spPr>
      </p:pic>
      <p:sp>
        <p:nvSpPr>
          <p:cNvPr id="6" name="Text 3"/>
          <p:cNvSpPr txBox="1"/>
          <p:nvPr/>
        </p:nvSpPr>
        <p:spPr>
          <a:xfrm>
            <a:off x="685800" y="2148840"/>
            <a:ext cx="2194560" cy="411480"/>
          </a:xfrm>
          <a:prstGeom prst="rect">
            <a:avLst/>
          </a:prstGeom>
          <a:noFill/>
          <a:ln/>
        </p:spPr>
        <p:txBody>
          <a:bodyPr wrap="square" lIns="0" tIns="0" rIns="0" bIns="0" rtlCol="0" anchor="ctr"/>
          <a:lstStyle/>
          <a:p>
            <a:pPr indent="0" marL="0">
              <a:buNone/>
            </a:pPr>
            <a:r>
              <a:rPr lang="en-US" sz="1500" b="1" dirty="0">
                <a:solidFill>
                  <a:srgbClr val="15201F"/>
                </a:solidFill>
                <a:latin typeface="Calibri" pitchFamily="34" charset="0"/>
                <a:ea typeface="Calibri" pitchFamily="34" charset="-122"/>
                <a:cs typeface="Calibri" pitchFamily="34" charset="-120"/>
              </a:rPr>
              <a:t>Broker subscription</a:t>
            </a:r>
            <a:endParaRPr lang="en-US" sz="1500" dirty="0"/>
          </a:p>
        </p:txBody>
      </p:sp>
      <p:sp>
        <p:nvSpPr>
          <p:cNvPr id="7" name="Text 4"/>
          <p:cNvSpPr txBox="1"/>
          <p:nvPr/>
        </p:nvSpPr>
        <p:spPr>
          <a:xfrm>
            <a:off x="685800" y="2606040"/>
            <a:ext cx="2194560" cy="1188720"/>
          </a:xfrm>
          <a:prstGeom prst="rect">
            <a:avLst/>
          </a:prstGeom>
          <a:noFill/>
          <a:ln/>
        </p:spPr>
        <p:txBody>
          <a:bodyPr wrap="square" lIns="0" tIns="0" rIns="0" bIns="0" rtlCol="0" anchor="t"/>
          <a:lstStyle/>
          <a:p>
            <a:pPr indent="0" marL="0">
              <a:buNone/>
            </a:pPr>
            <a:r>
              <a:rPr lang="en-US" sz="1200" dirty="0">
                <a:solidFill>
                  <a:srgbClr val="5B6866"/>
                </a:solidFill>
                <a:latin typeface="Calibri" pitchFamily="34" charset="0"/>
                <a:ea typeface="Calibri" pitchFamily="34" charset="-122"/>
                <a:cs typeface="Calibri" pitchFamily="34" charset="-120"/>
              </a:rPr>
              <a:t>Monthly plan per firm, with seats for managers and field staff. The core revenue line.</a:t>
            </a:r>
            <a:endParaRPr lang="en-US" sz="1200" dirty="0"/>
          </a:p>
        </p:txBody>
      </p:sp>
      <p:sp>
        <p:nvSpPr>
          <p:cNvPr id="8" name="Shape 5"/>
          <p:cNvSpPr/>
          <p:nvPr/>
        </p:nvSpPr>
        <p:spPr>
          <a:xfrm>
            <a:off x="3246120" y="1234440"/>
            <a:ext cx="2606040" cy="2651760"/>
          </a:xfrm>
          <a:prstGeom prst="roundRect">
            <a:avLst>
              <a:gd name="adj" fmla="val 2807"/>
            </a:avLst>
          </a:prstGeom>
          <a:solidFill>
            <a:srgbClr val="FFFFFF"/>
          </a:solidFill>
          <a:ln w="9525">
            <a:solidFill>
              <a:srgbClr val="DCE2DF"/>
            </a:solidFill>
            <a:prstDash val="solid"/>
          </a:ln>
        </p:spPr>
      </p:sp>
      <p:sp>
        <p:nvSpPr>
          <p:cNvPr id="9" name="Shape 6"/>
          <p:cNvSpPr/>
          <p:nvPr/>
        </p:nvSpPr>
        <p:spPr>
          <a:xfrm>
            <a:off x="3474720" y="1463040"/>
            <a:ext cx="548640" cy="548640"/>
          </a:xfrm>
          <a:prstGeom prst="ellipse">
            <a:avLst/>
          </a:prstGeom>
          <a:solidFill>
            <a:srgbClr val="0E3B43"/>
          </a:solidFill>
          <a:ln/>
        </p:spPr>
      </p:sp>
      <p:pic>
        <p:nvPicPr>
          <p:cNvPr id="10" name="Image 1" descr="preencoded.png">    </p:cNvPr>
          <p:cNvPicPr>
            <a:picLocks noChangeAspect="1"/>
          </p:cNvPicPr>
          <p:nvPr/>
        </p:nvPicPr>
        <p:blipFill>
          <a:blip r:embed="rId2"/>
          <a:stretch>
            <a:fillRect/>
          </a:stretch>
        </p:blipFill>
        <p:spPr>
          <a:xfrm>
            <a:off x="3606394" y="1594714"/>
            <a:ext cx="285293" cy="285293"/>
          </a:xfrm>
          <a:prstGeom prst="rect">
            <a:avLst/>
          </a:prstGeom>
        </p:spPr>
      </p:pic>
      <p:sp>
        <p:nvSpPr>
          <p:cNvPr id="11" name="Text 7"/>
          <p:cNvSpPr txBox="1"/>
          <p:nvPr/>
        </p:nvSpPr>
        <p:spPr>
          <a:xfrm>
            <a:off x="3474720" y="2148840"/>
            <a:ext cx="2194560" cy="411480"/>
          </a:xfrm>
          <a:prstGeom prst="rect">
            <a:avLst/>
          </a:prstGeom>
          <a:noFill/>
          <a:ln/>
        </p:spPr>
        <p:txBody>
          <a:bodyPr wrap="square" lIns="0" tIns="0" rIns="0" bIns="0" rtlCol="0" anchor="ctr"/>
          <a:lstStyle/>
          <a:p>
            <a:pPr indent="0" marL="0">
              <a:buNone/>
            </a:pPr>
            <a:r>
              <a:rPr lang="en-US" sz="1500" b="1" dirty="0">
                <a:solidFill>
                  <a:srgbClr val="15201F"/>
                </a:solidFill>
                <a:latin typeface="Calibri" pitchFamily="34" charset="0"/>
                <a:ea typeface="Calibri" pitchFamily="34" charset="-122"/>
                <a:cs typeface="Calibri" pitchFamily="34" charset="-120"/>
              </a:rPr>
              <a:t>Message credits</a:t>
            </a:r>
            <a:endParaRPr lang="en-US" sz="1500" dirty="0"/>
          </a:p>
        </p:txBody>
      </p:sp>
      <p:sp>
        <p:nvSpPr>
          <p:cNvPr id="12" name="Text 8"/>
          <p:cNvSpPr txBox="1"/>
          <p:nvPr/>
        </p:nvSpPr>
        <p:spPr>
          <a:xfrm>
            <a:off x="3474720" y="2606040"/>
            <a:ext cx="2194560" cy="1188720"/>
          </a:xfrm>
          <a:prstGeom prst="rect">
            <a:avLst/>
          </a:prstGeom>
          <a:noFill/>
          <a:ln/>
        </p:spPr>
        <p:txBody>
          <a:bodyPr wrap="square" lIns="0" tIns="0" rIns="0" bIns="0" rtlCol="0" anchor="t"/>
          <a:lstStyle/>
          <a:p>
            <a:pPr indent="0" marL="0">
              <a:buNone/>
            </a:pPr>
            <a:r>
              <a:rPr lang="en-US" sz="1200" dirty="0">
                <a:solidFill>
                  <a:srgbClr val="5B6866"/>
                </a:solidFill>
                <a:latin typeface="Calibri" pitchFamily="34" charset="0"/>
                <a:ea typeface="Calibri" pitchFamily="34" charset="-122"/>
                <a:cs typeface="Calibri" pitchFamily="34" charset="-120"/>
              </a:rPr>
              <a:t>Plans include a number of broadcasts and WhatsApp messages; brokers top up. Free in the pilot.</a:t>
            </a:r>
            <a:endParaRPr lang="en-US" sz="1200" dirty="0"/>
          </a:p>
        </p:txBody>
      </p:sp>
      <p:sp>
        <p:nvSpPr>
          <p:cNvPr id="13" name="Shape 9"/>
          <p:cNvSpPr/>
          <p:nvPr/>
        </p:nvSpPr>
        <p:spPr>
          <a:xfrm>
            <a:off x="6035040" y="1234440"/>
            <a:ext cx="2606040" cy="2651760"/>
          </a:xfrm>
          <a:prstGeom prst="roundRect">
            <a:avLst>
              <a:gd name="adj" fmla="val 2807"/>
            </a:avLst>
          </a:prstGeom>
          <a:solidFill>
            <a:srgbClr val="FFFFFF"/>
          </a:solidFill>
          <a:ln w="9525">
            <a:solidFill>
              <a:srgbClr val="DCE2DF"/>
            </a:solidFill>
            <a:prstDash val="solid"/>
          </a:ln>
        </p:spPr>
      </p:sp>
      <p:sp>
        <p:nvSpPr>
          <p:cNvPr id="14" name="Shape 10"/>
          <p:cNvSpPr/>
          <p:nvPr/>
        </p:nvSpPr>
        <p:spPr>
          <a:xfrm>
            <a:off x="6263640" y="1463040"/>
            <a:ext cx="548640" cy="548640"/>
          </a:xfrm>
          <a:prstGeom prst="ellipse">
            <a:avLst/>
          </a:prstGeom>
          <a:solidFill>
            <a:srgbClr val="0E3B43"/>
          </a:solidFill>
          <a:ln/>
        </p:spPr>
      </p:sp>
      <p:pic>
        <p:nvPicPr>
          <p:cNvPr id="15" name="Image 2" descr="preencoded.png">    </p:cNvPr>
          <p:cNvPicPr>
            <a:picLocks noChangeAspect="1"/>
          </p:cNvPicPr>
          <p:nvPr/>
        </p:nvPicPr>
        <p:blipFill>
          <a:blip r:embed="rId3"/>
          <a:stretch>
            <a:fillRect/>
          </a:stretch>
        </p:blipFill>
        <p:spPr>
          <a:xfrm>
            <a:off x="6395314" y="1594714"/>
            <a:ext cx="285293" cy="285293"/>
          </a:xfrm>
          <a:prstGeom prst="rect">
            <a:avLst/>
          </a:prstGeom>
        </p:spPr>
      </p:pic>
      <p:sp>
        <p:nvSpPr>
          <p:cNvPr id="16" name="Text 11"/>
          <p:cNvSpPr txBox="1"/>
          <p:nvPr/>
        </p:nvSpPr>
        <p:spPr>
          <a:xfrm>
            <a:off x="6263640" y="2148840"/>
            <a:ext cx="2194560" cy="411480"/>
          </a:xfrm>
          <a:prstGeom prst="rect">
            <a:avLst/>
          </a:prstGeom>
          <a:noFill/>
          <a:ln/>
        </p:spPr>
        <p:txBody>
          <a:bodyPr wrap="square" lIns="0" tIns="0" rIns="0" bIns="0" rtlCol="0" anchor="ctr"/>
          <a:lstStyle/>
          <a:p>
            <a:pPr indent="0" marL="0">
              <a:buNone/>
            </a:pPr>
            <a:r>
              <a:rPr lang="en-US" sz="1500" b="1" dirty="0">
                <a:solidFill>
                  <a:srgbClr val="15201F"/>
                </a:solidFill>
                <a:latin typeface="Calibri" pitchFamily="34" charset="0"/>
                <a:ea typeface="Calibri" pitchFamily="34" charset="-122"/>
                <a:cs typeface="Calibri" pitchFamily="34" charset="-120"/>
              </a:rPr>
              <a:t>Marketplace leads</a:t>
            </a:r>
            <a:endParaRPr lang="en-US" sz="1500" dirty="0"/>
          </a:p>
        </p:txBody>
      </p:sp>
      <p:sp>
        <p:nvSpPr>
          <p:cNvPr id="17" name="Text 12"/>
          <p:cNvSpPr txBox="1"/>
          <p:nvPr/>
        </p:nvSpPr>
        <p:spPr>
          <a:xfrm>
            <a:off x="6263640" y="2606040"/>
            <a:ext cx="2194560" cy="1188720"/>
          </a:xfrm>
          <a:prstGeom prst="rect">
            <a:avLst/>
          </a:prstGeom>
          <a:noFill/>
          <a:ln/>
        </p:spPr>
        <p:txBody>
          <a:bodyPr wrap="square" lIns="0" tIns="0" rIns="0" bIns="0" rtlCol="0" anchor="t"/>
          <a:lstStyle/>
          <a:p>
            <a:pPr indent="0" marL="0">
              <a:buNone/>
            </a:pPr>
            <a:r>
              <a:rPr lang="en-US" sz="1200" dirty="0">
                <a:solidFill>
                  <a:srgbClr val="5B6866"/>
                </a:solidFill>
                <a:latin typeface="Calibri" pitchFamily="34" charset="0"/>
                <a:ea typeface="Calibri" pitchFamily="34" charset="-122"/>
                <a:cs typeface="Calibri" pitchFamily="34" charset="-120"/>
              </a:rPr>
              <a:t>After the pilot: credits to respond to customer enquiries and owner invitations.</a:t>
            </a:r>
            <a:endParaRPr lang="en-US" sz="1200" dirty="0"/>
          </a:p>
        </p:txBody>
      </p:sp>
      <p:sp>
        <p:nvSpPr>
          <p:cNvPr id="18" name="Shape 13"/>
          <p:cNvSpPr/>
          <p:nvPr/>
        </p:nvSpPr>
        <p:spPr>
          <a:xfrm>
            <a:off x="457200" y="4114800"/>
            <a:ext cx="8229600" cy="594360"/>
          </a:xfrm>
          <a:prstGeom prst="roundRect">
            <a:avLst>
              <a:gd name="adj" fmla="val 12308"/>
            </a:avLst>
          </a:prstGeom>
          <a:solidFill>
            <a:srgbClr val="DCEBE8"/>
          </a:solidFill>
          <a:ln/>
        </p:spPr>
      </p:sp>
      <p:sp>
        <p:nvSpPr>
          <p:cNvPr id="19" name="Text 14"/>
          <p:cNvSpPr txBox="1"/>
          <p:nvPr/>
        </p:nvSpPr>
        <p:spPr>
          <a:xfrm>
            <a:off x="640080" y="4114800"/>
            <a:ext cx="7863840" cy="594360"/>
          </a:xfrm>
          <a:prstGeom prst="rect">
            <a:avLst/>
          </a:prstGeom>
          <a:noFill/>
          <a:ln/>
        </p:spPr>
        <p:txBody>
          <a:bodyPr wrap="square" lIns="0" tIns="0" rIns="0" bIns="0" rtlCol="0" anchor="ctr"/>
          <a:lstStyle/>
          <a:p>
            <a:pPr indent="0" marL="0">
              <a:buNone/>
            </a:pPr>
            <a:r>
              <a:rPr lang="en-US" sz="1250" dirty="0">
                <a:solidFill>
                  <a:srgbClr val="0E3B43"/>
                </a:solidFill>
                <a:latin typeface="Calibri" pitchFamily="34" charset="0"/>
                <a:ea typeface="Calibri" pitchFamily="34" charset="-122"/>
                <a:cs typeface="Calibri" pitchFamily="34" charset="-120"/>
              </a:rPr>
              <a:t>Pilot: free for Thane West brokers. We measure time saved per flat, stale-listing rate, visits per customer — and what brokers would pay.</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Where we are today</a:t>
            </a:r>
            <a:endParaRPr lang="en-US" sz="2500" dirty="0"/>
          </a:p>
        </p:txBody>
      </p:sp>
      <p:sp>
        <p:nvSpPr>
          <p:cNvPr id="3" name="Text 1"/>
          <p:cNvSpPr txBox="1"/>
          <p:nvPr/>
        </p:nvSpPr>
        <p:spPr>
          <a:xfrm>
            <a:off x="457200" y="1143000"/>
            <a:ext cx="1920240" cy="777240"/>
          </a:xfrm>
          <a:prstGeom prst="rect">
            <a:avLst/>
          </a:prstGeom>
          <a:noFill/>
          <a:ln/>
        </p:spPr>
        <p:txBody>
          <a:bodyPr wrap="square" lIns="0" tIns="0" rIns="0" bIns="0" rtlCol="0" anchor="ctr"/>
          <a:lstStyle/>
          <a:p>
            <a:pPr indent="0" marL="0">
              <a:buNone/>
            </a:pPr>
            <a:r>
              <a:rPr lang="en-US" sz="4000" b="1" dirty="0">
                <a:solidFill>
                  <a:srgbClr val="0E3B43"/>
                </a:solidFill>
                <a:latin typeface="Cambria" pitchFamily="34" charset="0"/>
                <a:ea typeface="Cambria" pitchFamily="34" charset="-122"/>
                <a:cs typeface="Cambria" pitchFamily="34" charset="-120"/>
              </a:rPr>
              <a:t>190+</a:t>
            </a:r>
            <a:endParaRPr lang="en-US" sz="4000" dirty="0"/>
          </a:p>
        </p:txBody>
      </p:sp>
      <p:sp>
        <p:nvSpPr>
          <p:cNvPr id="4" name="Text 2"/>
          <p:cNvSpPr txBox="1"/>
          <p:nvPr/>
        </p:nvSpPr>
        <p:spPr>
          <a:xfrm>
            <a:off x="457200" y="1920240"/>
            <a:ext cx="1920240" cy="502920"/>
          </a:xfrm>
          <a:prstGeom prst="rect">
            <a:avLst/>
          </a:prstGeom>
          <a:noFill/>
          <a:ln/>
        </p:spPr>
        <p:txBody>
          <a:bodyPr wrap="square" lIns="0" tIns="0" rIns="0" bIns="0" rtlCol="0" anchor="t"/>
          <a:lstStyle/>
          <a:p>
            <a:pPr indent="0" marL="0">
              <a:buNone/>
            </a:pPr>
            <a:r>
              <a:rPr lang="en-US" sz="1200" dirty="0">
                <a:solidFill>
                  <a:srgbClr val="5B6866"/>
                </a:solidFill>
                <a:latin typeface="Calibri" pitchFamily="34" charset="0"/>
                <a:ea typeface="Calibri" pitchFamily="34" charset="-122"/>
                <a:cs typeface="Calibri" pitchFamily="34" charset="-120"/>
              </a:rPr>
              <a:t>automated server tests, all passing</a:t>
            </a:r>
            <a:endParaRPr lang="en-US" sz="1200" dirty="0"/>
          </a:p>
        </p:txBody>
      </p:sp>
      <p:sp>
        <p:nvSpPr>
          <p:cNvPr id="5" name="Text 3"/>
          <p:cNvSpPr txBox="1"/>
          <p:nvPr/>
        </p:nvSpPr>
        <p:spPr>
          <a:xfrm>
            <a:off x="2560320" y="1143000"/>
            <a:ext cx="1920240" cy="777240"/>
          </a:xfrm>
          <a:prstGeom prst="rect">
            <a:avLst/>
          </a:prstGeom>
          <a:noFill/>
          <a:ln/>
        </p:spPr>
        <p:txBody>
          <a:bodyPr wrap="square" lIns="0" tIns="0" rIns="0" bIns="0" rtlCol="0" anchor="ctr"/>
          <a:lstStyle/>
          <a:p>
            <a:pPr indent="0" marL="0">
              <a:buNone/>
            </a:pPr>
            <a:r>
              <a:rPr lang="en-US" sz="4000" b="1" dirty="0">
                <a:solidFill>
                  <a:srgbClr val="0E3B43"/>
                </a:solidFill>
                <a:latin typeface="Cambria" pitchFamily="34" charset="0"/>
                <a:ea typeface="Cambria" pitchFamily="34" charset="-122"/>
                <a:cs typeface="Cambria" pitchFamily="34" charset="-120"/>
              </a:rPr>
              <a:t>4</a:t>
            </a:r>
            <a:endParaRPr lang="en-US" sz="4000" dirty="0"/>
          </a:p>
        </p:txBody>
      </p:sp>
      <p:sp>
        <p:nvSpPr>
          <p:cNvPr id="6" name="Text 4"/>
          <p:cNvSpPr txBox="1"/>
          <p:nvPr/>
        </p:nvSpPr>
        <p:spPr>
          <a:xfrm>
            <a:off x="2560320" y="1920240"/>
            <a:ext cx="1920240" cy="502920"/>
          </a:xfrm>
          <a:prstGeom prst="rect">
            <a:avLst/>
          </a:prstGeom>
          <a:noFill/>
          <a:ln/>
        </p:spPr>
        <p:txBody>
          <a:bodyPr wrap="square" lIns="0" tIns="0" rIns="0" bIns="0" rtlCol="0" anchor="t"/>
          <a:lstStyle/>
          <a:p>
            <a:pPr indent="0" marL="0">
              <a:buNone/>
            </a:pPr>
            <a:r>
              <a:rPr lang="en-US" sz="1200" dirty="0">
                <a:solidFill>
                  <a:srgbClr val="5B6866"/>
                </a:solidFill>
                <a:latin typeface="Calibri" pitchFamily="34" charset="0"/>
                <a:ea typeface="Calibri" pitchFamily="34" charset="-122"/>
                <a:cs typeface="Calibri" pitchFamily="34" charset="-120"/>
              </a:rPr>
              <a:t>app modes: broker, field staff, owner, customer</a:t>
            </a:r>
            <a:endParaRPr lang="en-US" sz="1200" dirty="0"/>
          </a:p>
        </p:txBody>
      </p:sp>
      <p:sp>
        <p:nvSpPr>
          <p:cNvPr id="7" name="Text 5"/>
          <p:cNvSpPr txBox="1"/>
          <p:nvPr/>
        </p:nvSpPr>
        <p:spPr>
          <a:xfrm>
            <a:off x="4663440" y="1143000"/>
            <a:ext cx="1920240" cy="777240"/>
          </a:xfrm>
          <a:prstGeom prst="rect">
            <a:avLst/>
          </a:prstGeom>
          <a:noFill/>
          <a:ln/>
        </p:spPr>
        <p:txBody>
          <a:bodyPr wrap="square" lIns="0" tIns="0" rIns="0" bIns="0" rtlCol="0" anchor="ctr"/>
          <a:lstStyle/>
          <a:p>
            <a:pPr indent="0" marL="0">
              <a:buNone/>
            </a:pPr>
            <a:r>
              <a:rPr lang="en-US" sz="4000" b="1" dirty="0">
                <a:solidFill>
                  <a:srgbClr val="0E3B43"/>
                </a:solidFill>
                <a:latin typeface="Cambria" pitchFamily="34" charset="0"/>
                <a:ea typeface="Cambria" pitchFamily="34" charset="-122"/>
                <a:cs typeface="Cambria" pitchFamily="34" charset="-120"/>
              </a:rPr>
              <a:t>200</a:t>
            </a:r>
            <a:endParaRPr lang="en-US" sz="4000" dirty="0"/>
          </a:p>
        </p:txBody>
      </p:sp>
      <p:sp>
        <p:nvSpPr>
          <p:cNvPr id="8" name="Text 6"/>
          <p:cNvSpPr txBox="1"/>
          <p:nvPr/>
        </p:nvSpPr>
        <p:spPr>
          <a:xfrm>
            <a:off x="4663440" y="1920240"/>
            <a:ext cx="1920240" cy="502920"/>
          </a:xfrm>
          <a:prstGeom prst="rect">
            <a:avLst/>
          </a:prstGeom>
          <a:noFill/>
          <a:ln/>
        </p:spPr>
        <p:txBody>
          <a:bodyPr wrap="square" lIns="0" tIns="0" rIns="0" bIns="0" rtlCol="0" anchor="t"/>
          <a:lstStyle/>
          <a:p>
            <a:pPr indent="0" marL="0">
              <a:buNone/>
            </a:pPr>
            <a:r>
              <a:rPr lang="en-US" sz="1200" dirty="0">
                <a:solidFill>
                  <a:srgbClr val="5B6866"/>
                </a:solidFill>
                <a:latin typeface="Calibri" pitchFamily="34" charset="0"/>
                <a:ea typeface="Calibri" pitchFamily="34" charset="-122"/>
                <a:cs typeface="Calibri" pitchFamily="34" charset="-120"/>
              </a:rPr>
              <a:t>flat attributes — only 17 essential</a:t>
            </a:r>
            <a:endParaRPr lang="en-US" sz="1200" dirty="0"/>
          </a:p>
        </p:txBody>
      </p:sp>
      <p:sp>
        <p:nvSpPr>
          <p:cNvPr id="9" name="Text 7"/>
          <p:cNvSpPr txBox="1"/>
          <p:nvPr/>
        </p:nvSpPr>
        <p:spPr>
          <a:xfrm>
            <a:off x="6766560" y="1143000"/>
            <a:ext cx="1920240" cy="777240"/>
          </a:xfrm>
          <a:prstGeom prst="rect">
            <a:avLst/>
          </a:prstGeom>
          <a:noFill/>
          <a:ln/>
        </p:spPr>
        <p:txBody>
          <a:bodyPr wrap="square" lIns="0" tIns="0" rIns="0" bIns="0" rtlCol="0" anchor="ctr"/>
          <a:lstStyle/>
          <a:p>
            <a:pPr indent="0" marL="0">
              <a:buNone/>
            </a:pPr>
            <a:r>
              <a:rPr lang="en-US" sz="4000" b="1" dirty="0">
                <a:solidFill>
                  <a:srgbClr val="0E3B43"/>
                </a:solidFill>
                <a:latin typeface="Cambria" pitchFamily="34" charset="0"/>
                <a:ea typeface="Cambria" pitchFamily="34" charset="-122"/>
                <a:cs typeface="Cambria" pitchFamily="34" charset="-120"/>
              </a:rPr>
              <a:t>Live</a:t>
            </a:r>
            <a:endParaRPr lang="en-US" sz="4000" dirty="0"/>
          </a:p>
        </p:txBody>
      </p:sp>
      <p:sp>
        <p:nvSpPr>
          <p:cNvPr id="10" name="Text 8"/>
          <p:cNvSpPr txBox="1"/>
          <p:nvPr/>
        </p:nvSpPr>
        <p:spPr>
          <a:xfrm>
            <a:off x="6766560" y="1920240"/>
            <a:ext cx="1920240" cy="502920"/>
          </a:xfrm>
          <a:prstGeom prst="rect">
            <a:avLst/>
          </a:prstGeom>
          <a:noFill/>
          <a:ln/>
        </p:spPr>
        <p:txBody>
          <a:bodyPr wrap="square" lIns="0" tIns="0" rIns="0" bIns="0" rtlCol="0" anchor="t"/>
          <a:lstStyle/>
          <a:p>
            <a:pPr indent="0" marL="0">
              <a:buNone/>
            </a:pPr>
            <a:r>
              <a:rPr lang="en-US" sz="1200" dirty="0">
                <a:solidFill>
                  <a:srgbClr val="5B6866"/>
                </a:solidFill>
                <a:latin typeface="Calibri" pitchFamily="34" charset="0"/>
                <a:ea typeface="Calibri" pitchFamily="34" charset="-122"/>
                <a:cs typeface="Calibri" pitchFamily="34" charset="-120"/>
              </a:rPr>
              <a:t>Android test app &amp; online demo</a:t>
            </a:r>
            <a:endParaRPr lang="en-US" sz="1200" dirty="0"/>
          </a:p>
        </p:txBody>
      </p:sp>
      <p:sp>
        <p:nvSpPr>
          <p:cNvPr id="11" name="Shape 9"/>
          <p:cNvSpPr/>
          <p:nvPr/>
        </p:nvSpPr>
        <p:spPr>
          <a:xfrm>
            <a:off x="731520" y="3246120"/>
            <a:ext cx="7680960" cy="0"/>
          </a:xfrm>
          <a:prstGeom prst="line">
            <a:avLst/>
          </a:prstGeom>
          <a:noFill/>
          <a:ln w="25400">
            <a:solidFill>
              <a:srgbClr val="C9D2CF"/>
            </a:solidFill>
            <a:prstDash val="solid"/>
          </a:ln>
        </p:spPr>
      </p:sp>
      <p:sp>
        <p:nvSpPr>
          <p:cNvPr id="12" name="Shape 10"/>
          <p:cNvSpPr/>
          <p:nvPr/>
        </p:nvSpPr>
        <p:spPr>
          <a:xfrm>
            <a:off x="594360" y="3108960"/>
            <a:ext cx="274320" cy="274320"/>
          </a:xfrm>
          <a:prstGeom prst="ellipse">
            <a:avLst/>
          </a:prstGeom>
          <a:solidFill>
            <a:srgbClr val="1E7A46"/>
          </a:solidFill>
          <a:ln w="25400">
            <a:solidFill>
              <a:srgbClr val="FFFFFF"/>
            </a:solidFill>
            <a:prstDash val="solid"/>
          </a:ln>
        </p:spPr>
      </p:sp>
      <p:sp>
        <p:nvSpPr>
          <p:cNvPr id="13" name="Text 11"/>
          <p:cNvSpPr txBox="1"/>
          <p:nvPr/>
        </p:nvSpPr>
        <p:spPr>
          <a:xfrm>
            <a:off x="457200" y="3474720"/>
            <a:ext cx="1554480" cy="274320"/>
          </a:xfrm>
          <a:prstGeom prst="rect">
            <a:avLst/>
          </a:prstGeom>
          <a:noFill/>
          <a:ln/>
        </p:spPr>
        <p:txBody>
          <a:bodyPr wrap="square" lIns="0" tIns="0" rIns="0" bIns="0" rtlCol="0" anchor="ctr"/>
          <a:lstStyle/>
          <a:p>
            <a:pPr indent="0" marL="0">
              <a:buNone/>
            </a:pPr>
            <a:r>
              <a:rPr lang="en-US" sz="1100" b="1" dirty="0">
                <a:solidFill>
                  <a:srgbClr val="1E7A46"/>
                </a:solidFill>
                <a:latin typeface="Calibri" pitchFamily="34" charset="0"/>
                <a:ea typeface="Calibri" pitchFamily="34" charset="-122"/>
                <a:cs typeface="Calibri" pitchFamily="34" charset="-120"/>
              </a:rPr>
              <a:t>Done</a:t>
            </a:r>
            <a:endParaRPr lang="en-US" sz="1100" dirty="0"/>
          </a:p>
        </p:txBody>
      </p:sp>
      <p:sp>
        <p:nvSpPr>
          <p:cNvPr id="14" name="Text 12"/>
          <p:cNvSpPr txBox="1"/>
          <p:nvPr/>
        </p:nvSpPr>
        <p:spPr>
          <a:xfrm>
            <a:off x="457200" y="3749040"/>
            <a:ext cx="1554480" cy="731520"/>
          </a:xfrm>
          <a:prstGeom prst="rect">
            <a:avLst/>
          </a:prstGeom>
          <a:noFill/>
          <a:ln/>
        </p:spPr>
        <p:txBody>
          <a:bodyPr wrap="square" lIns="0" tIns="0" rIns="0" bIns="0" rtlCol="0" anchor="t"/>
          <a:lstStyle/>
          <a:p>
            <a:pPr indent="0" marL="0">
              <a:buNone/>
            </a:pPr>
            <a:r>
              <a:rPr lang="en-US" sz="1250" dirty="0">
                <a:solidFill>
                  <a:srgbClr val="15201F"/>
                </a:solidFill>
                <a:latin typeface="Calibri" pitchFamily="34" charset="0"/>
                <a:ea typeface="Calibri" pitchFamily="34" charset="-122"/>
                <a:cs typeface="Calibri" pitchFamily="34" charset="-120"/>
              </a:rPr>
              <a:t>Build the core</a:t>
            </a:r>
            <a:endParaRPr lang="en-US" sz="1250" dirty="0"/>
          </a:p>
        </p:txBody>
      </p:sp>
      <p:sp>
        <p:nvSpPr>
          <p:cNvPr id="15" name="Shape 13"/>
          <p:cNvSpPr/>
          <p:nvPr/>
        </p:nvSpPr>
        <p:spPr>
          <a:xfrm>
            <a:off x="2240280" y="3108960"/>
            <a:ext cx="274320" cy="274320"/>
          </a:xfrm>
          <a:prstGeom prst="ellipse">
            <a:avLst/>
          </a:prstGeom>
          <a:solidFill>
            <a:srgbClr val="E8A33D"/>
          </a:solidFill>
          <a:ln w="25400">
            <a:solidFill>
              <a:srgbClr val="FFFFFF"/>
            </a:solidFill>
            <a:prstDash val="solid"/>
          </a:ln>
        </p:spPr>
      </p:sp>
      <p:sp>
        <p:nvSpPr>
          <p:cNvPr id="16" name="Text 14"/>
          <p:cNvSpPr txBox="1"/>
          <p:nvPr/>
        </p:nvSpPr>
        <p:spPr>
          <a:xfrm>
            <a:off x="2103120" y="3474720"/>
            <a:ext cx="1554480" cy="274320"/>
          </a:xfrm>
          <a:prstGeom prst="rect">
            <a:avLst/>
          </a:prstGeom>
          <a:noFill/>
          <a:ln/>
        </p:spPr>
        <p:txBody>
          <a:bodyPr wrap="square" lIns="0" tIns="0" rIns="0" bIns="0" rtlCol="0" anchor="ctr"/>
          <a:lstStyle/>
          <a:p>
            <a:pPr indent="0" marL="0">
              <a:buNone/>
            </a:pPr>
            <a:r>
              <a:rPr lang="en-US" sz="1100" b="1" dirty="0">
                <a:solidFill>
                  <a:srgbClr val="E8A33D"/>
                </a:solidFill>
                <a:latin typeface="Calibri" pitchFamily="34" charset="0"/>
                <a:ea typeface="Calibri" pitchFamily="34" charset="-122"/>
                <a:cs typeface="Calibri" pitchFamily="34" charset="-120"/>
              </a:rPr>
              <a:t>Now</a:t>
            </a:r>
            <a:endParaRPr lang="en-US" sz="1100" dirty="0"/>
          </a:p>
        </p:txBody>
      </p:sp>
      <p:sp>
        <p:nvSpPr>
          <p:cNvPr id="17" name="Text 15"/>
          <p:cNvSpPr txBox="1"/>
          <p:nvPr/>
        </p:nvSpPr>
        <p:spPr>
          <a:xfrm>
            <a:off x="2103120" y="3749040"/>
            <a:ext cx="1554480" cy="731520"/>
          </a:xfrm>
          <a:prstGeom prst="rect">
            <a:avLst/>
          </a:prstGeom>
          <a:noFill/>
          <a:ln/>
        </p:spPr>
        <p:txBody>
          <a:bodyPr wrap="square" lIns="0" tIns="0" rIns="0" bIns="0" rtlCol="0" anchor="t"/>
          <a:lstStyle/>
          <a:p>
            <a:pPr indent="0" marL="0">
              <a:buNone/>
            </a:pPr>
            <a:r>
              <a:rPr lang="en-US" sz="1250" dirty="0">
                <a:solidFill>
                  <a:srgbClr val="15201F"/>
                </a:solidFill>
                <a:latin typeface="Calibri" pitchFamily="34" charset="0"/>
                <a:ea typeface="Calibri" pitchFamily="34" charset="-122"/>
                <a:cs typeface="Calibri" pitchFamily="34" charset="-120"/>
              </a:rPr>
              <a:t>Clean Thane West data</a:t>
            </a:r>
            <a:endParaRPr lang="en-US" sz="1250" dirty="0"/>
          </a:p>
        </p:txBody>
      </p:sp>
      <p:sp>
        <p:nvSpPr>
          <p:cNvPr id="18" name="Shape 16"/>
          <p:cNvSpPr/>
          <p:nvPr/>
        </p:nvSpPr>
        <p:spPr>
          <a:xfrm>
            <a:off x="3886200" y="3108960"/>
            <a:ext cx="274320" cy="274320"/>
          </a:xfrm>
          <a:prstGeom prst="ellipse">
            <a:avLst/>
          </a:prstGeom>
          <a:solidFill>
            <a:srgbClr val="0E3B43"/>
          </a:solidFill>
          <a:ln w="25400">
            <a:solidFill>
              <a:srgbClr val="FFFFFF"/>
            </a:solidFill>
            <a:prstDash val="solid"/>
          </a:ln>
        </p:spPr>
      </p:sp>
      <p:sp>
        <p:nvSpPr>
          <p:cNvPr id="19" name="Text 17"/>
          <p:cNvSpPr txBox="1"/>
          <p:nvPr/>
        </p:nvSpPr>
        <p:spPr>
          <a:xfrm>
            <a:off x="3749040" y="3474720"/>
            <a:ext cx="1554480" cy="274320"/>
          </a:xfrm>
          <a:prstGeom prst="rect">
            <a:avLst/>
          </a:prstGeom>
          <a:noFill/>
          <a:ln/>
        </p:spPr>
        <p:txBody>
          <a:bodyPr wrap="square" lIns="0" tIns="0" rIns="0" bIns="0" rtlCol="0" anchor="ctr"/>
          <a:lstStyle/>
          <a:p>
            <a:pPr indent="0" marL="0">
              <a:buNone/>
            </a:pPr>
            <a:r>
              <a:rPr lang="en-US" sz="1100" b="1" dirty="0">
                <a:solidFill>
                  <a:srgbClr val="0E3B43"/>
                </a:solidFill>
                <a:latin typeface="Calibri" pitchFamily="34" charset="0"/>
                <a:ea typeface="Calibri" pitchFamily="34" charset="-122"/>
                <a:cs typeface="Calibri" pitchFamily="34" charset="-120"/>
              </a:rPr>
              <a:t>Next</a:t>
            </a:r>
            <a:endParaRPr lang="en-US" sz="1100" dirty="0"/>
          </a:p>
        </p:txBody>
      </p:sp>
      <p:sp>
        <p:nvSpPr>
          <p:cNvPr id="20" name="Text 18"/>
          <p:cNvSpPr txBox="1"/>
          <p:nvPr/>
        </p:nvSpPr>
        <p:spPr>
          <a:xfrm>
            <a:off x="3749040" y="3749040"/>
            <a:ext cx="1554480" cy="731520"/>
          </a:xfrm>
          <a:prstGeom prst="rect">
            <a:avLst/>
          </a:prstGeom>
          <a:noFill/>
          <a:ln/>
        </p:spPr>
        <p:txBody>
          <a:bodyPr wrap="square" lIns="0" tIns="0" rIns="0" bIns="0" rtlCol="0" anchor="t"/>
          <a:lstStyle/>
          <a:p>
            <a:pPr indent="0" marL="0">
              <a:buNone/>
            </a:pPr>
            <a:r>
              <a:rPr lang="en-US" sz="1250" dirty="0">
                <a:solidFill>
                  <a:srgbClr val="15201F"/>
                </a:solidFill>
                <a:latin typeface="Calibri" pitchFamily="34" charset="0"/>
                <a:ea typeface="Calibri" pitchFamily="34" charset="-122"/>
                <a:cs typeface="Calibri" pitchFamily="34" charset="-120"/>
              </a:rPr>
              <a:t>Pilot broker on the real app</a:t>
            </a:r>
            <a:endParaRPr lang="en-US" sz="1250" dirty="0"/>
          </a:p>
        </p:txBody>
      </p:sp>
      <p:sp>
        <p:nvSpPr>
          <p:cNvPr id="21" name="Shape 19"/>
          <p:cNvSpPr/>
          <p:nvPr/>
        </p:nvSpPr>
        <p:spPr>
          <a:xfrm>
            <a:off x="5532120" y="3108960"/>
            <a:ext cx="274320" cy="274320"/>
          </a:xfrm>
          <a:prstGeom prst="ellipse">
            <a:avLst/>
          </a:prstGeom>
          <a:solidFill>
            <a:srgbClr val="5B6866"/>
          </a:solidFill>
          <a:ln w="25400">
            <a:solidFill>
              <a:srgbClr val="FFFFFF"/>
            </a:solidFill>
            <a:prstDash val="solid"/>
          </a:ln>
        </p:spPr>
      </p:sp>
      <p:sp>
        <p:nvSpPr>
          <p:cNvPr id="22" name="Text 20"/>
          <p:cNvSpPr txBox="1"/>
          <p:nvPr/>
        </p:nvSpPr>
        <p:spPr>
          <a:xfrm>
            <a:off x="5394960" y="3474720"/>
            <a:ext cx="1554480" cy="274320"/>
          </a:xfrm>
          <a:prstGeom prst="rect">
            <a:avLst/>
          </a:prstGeom>
          <a:noFill/>
          <a:ln/>
        </p:spPr>
        <p:txBody>
          <a:bodyPr wrap="square" lIns="0" tIns="0" rIns="0" bIns="0" rtlCol="0" anchor="ctr"/>
          <a:lstStyle/>
          <a:p>
            <a:pPr indent="0" marL="0">
              <a:buNone/>
            </a:pPr>
            <a:r>
              <a:rPr lang="en-US" sz="1100" b="1" dirty="0">
                <a:solidFill>
                  <a:srgbClr val="5B6866"/>
                </a:solidFill>
                <a:latin typeface="Calibri" pitchFamily="34" charset="0"/>
                <a:ea typeface="Calibri" pitchFamily="34" charset="-122"/>
                <a:cs typeface="Calibri" pitchFamily="34" charset="-120"/>
              </a:rPr>
              <a:t>Then</a:t>
            </a:r>
            <a:endParaRPr lang="en-US" sz="1100" dirty="0"/>
          </a:p>
        </p:txBody>
      </p:sp>
      <p:sp>
        <p:nvSpPr>
          <p:cNvPr id="23" name="Text 21"/>
          <p:cNvSpPr txBox="1"/>
          <p:nvPr/>
        </p:nvSpPr>
        <p:spPr>
          <a:xfrm>
            <a:off x="5394960" y="3749040"/>
            <a:ext cx="1554480" cy="731520"/>
          </a:xfrm>
          <a:prstGeom prst="rect">
            <a:avLst/>
          </a:prstGeom>
          <a:noFill/>
          <a:ln/>
        </p:spPr>
        <p:txBody>
          <a:bodyPr wrap="square" lIns="0" tIns="0" rIns="0" bIns="0" rtlCol="0" anchor="t"/>
          <a:lstStyle/>
          <a:p>
            <a:pPr indent="0" marL="0">
              <a:buNone/>
            </a:pPr>
            <a:r>
              <a:rPr lang="en-US" sz="1250" dirty="0">
                <a:solidFill>
                  <a:srgbClr val="15201F"/>
                </a:solidFill>
                <a:latin typeface="Calibri" pitchFamily="34" charset="0"/>
                <a:ea typeface="Calibri" pitchFamily="34" charset="-122"/>
                <a:cs typeface="Calibri" pitchFamily="34" charset="-120"/>
              </a:rPr>
              <a:t>Measure the pilot</a:t>
            </a:r>
            <a:endParaRPr lang="en-US" sz="1250" dirty="0"/>
          </a:p>
        </p:txBody>
      </p:sp>
      <p:sp>
        <p:nvSpPr>
          <p:cNvPr id="24" name="Shape 22"/>
          <p:cNvSpPr/>
          <p:nvPr/>
        </p:nvSpPr>
        <p:spPr>
          <a:xfrm>
            <a:off x="7178040" y="3108960"/>
            <a:ext cx="274320" cy="274320"/>
          </a:xfrm>
          <a:prstGeom prst="ellipse">
            <a:avLst/>
          </a:prstGeom>
          <a:solidFill>
            <a:srgbClr val="5B6866"/>
          </a:solidFill>
          <a:ln w="25400">
            <a:solidFill>
              <a:srgbClr val="FFFFFF"/>
            </a:solidFill>
            <a:prstDash val="solid"/>
          </a:ln>
        </p:spPr>
      </p:sp>
      <p:sp>
        <p:nvSpPr>
          <p:cNvPr id="25" name="Text 23"/>
          <p:cNvSpPr txBox="1"/>
          <p:nvPr/>
        </p:nvSpPr>
        <p:spPr>
          <a:xfrm>
            <a:off x="7040880" y="3474720"/>
            <a:ext cx="1554480" cy="274320"/>
          </a:xfrm>
          <a:prstGeom prst="rect">
            <a:avLst/>
          </a:prstGeom>
          <a:noFill/>
          <a:ln/>
        </p:spPr>
        <p:txBody>
          <a:bodyPr wrap="square" lIns="0" tIns="0" rIns="0" bIns="0" rtlCol="0" anchor="ctr"/>
          <a:lstStyle/>
          <a:p>
            <a:pPr indent="0" marL="0">
              <a:buNone/>
            </a:pPr>
            <a:r>
              <a:rPr lang="en-US" sz="1100" b="1" dirty="0">
                <a:solidFill>
                  <a:srgbClr val="5B6866"/>
                </a:solidFill>
                <a:latin typeface="Calibri" pitchFamily="34" charset="0"/>
                <a:ea typeface="Calibri" pitchFamily="34" charset="-122"/>
                <a:cs typeface="Calibri" pitchFamily="34" charset="-120"/>
              </a:rPr>
              <a:t>Later</a:t>
            </a:r>
            <a:endParaRPr lang="en-US" sz="1100" dirty="0"/>
          </a:p>
        </p:txBody>
      </p:sp>
      <p:sp>
        <p:nvSpPr>
          <p:cNvPr id="26" name="Text 24"/>
          <p:cNvSpPr txBox="1"/>
          <p:nvPr/>
        </p:nvSpPr>
        <p:spPr>
          <a:xfrm>
            <a:off x="7040880" y="3749040"/>
            <a:ext cx="1554480" cy="731520"/>
          </a:xfrm>
          <a:prstGeom prst="rect">
            <a:avLst/>
          </a:prstGeom>
          <a:noFill/>
          <a:ln/>
        </p:spPr>
        <p:txBody>
          <a:bodyPr wrap="square" lIns="0" tIns="0" rIns="0" bIns="0" rtlCol="0" anchor="t"/>
          <a:lstStyle/>
          <a:p>
            <a:pPr indent="0" marL="0">
              <a:buNone/>
            </a:pPr>
            <a:r>
              <a:rPr lang="en-US" sz="1250" dirty="0">
                <a:solidFill>
                  <a:srgbClr val="15201F"/>
                </a:solidFill>
                <a:latin typeface="Calibri" pitchFamily="34" charset="0"/>
                <a:ea typeface="Calibri" pitchFamily="34" charset="-122"/>
                <a:cs typeface="Calibri" pitchFamily="34" charset="-120"/>
              </a:rPr>
              <a:t>More brokers → marketplace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5"/>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t"/>
          <a:lstStyle/>
          <a:p>
            <a:pPr indent="0" marL="0">
              <a:buNone/>
            </a:pPr>
            <a:r>
              <a:rPr lang="en-US" sz="2500" b="1" dirty="0">
                <a:solidFill>
                  <a:srgbClr val="15201F"/>
                </a:solidFill>
                <a:latin typeface="Cambria" pitchFamily="34" charset="0"/>
                <a:ea typeface="Cambria" pitchFamily="34" charset="-122"/>
                <a:cs typeface="Cambria" pitchFamily="34" charset="-120"/>
              </a:rPr>
              <a:t>Next 90 days</a:t>
            </a:r>
            <a:endParaRPr lang="en-US" sz="2500" dirty="0"/>
          </a:p>
        </p:txBody>
      </p:sp>
      <p:sp>
        <p:nvSpPr>
          <p:cNvPr id="3" name="Shape 1"/>
          <p:cNvSpPr/>
          <p:nvPr/>
        </p:nvSpPr>
        <p:spPr>
          <a:xfrm>
            <a:off x="457200" y="1234440"/>
            <a:ext cx="548640" cy="548640"/>
          </a:xfrm>
          <a:prstGeom prst="ellipse">
            <a:avLst/>
          </a:prstGeom>
          <a:solidFill>
            <a:srgbClr val="0E3B43"/>
          </a:solidFill>
          <a:ln/>
        </p:spPr>
      </p:sp>
      <p:pic>
        <p:nvPicPr>
          <p:cNvPr id="4" name="Image 0" descr="preencoded.png">    </p:cNvPr>
          <p:cNvPicPr>
            <a:picLocks noChangeAspect="1"/>
          </p:cNvPicPr>
          <p:nvPr/>
        </p:nvPicPr>
        <p:blipFill>
          <a:blip r:embed="rId1"/>
          <a:stretch>
            <a:fillRect/>
          </a:stretch>
        </p:blipFill>
        <p:spPr>
          <a:xfrm>
            <a:off x="588874" y="1366114"/>
            <a:ext cx="285293" cy="285293"/>
          </a:xfrm>
          <a:prstGeom prst="rect">
            <a:avLst/>
          </a:prstGeom>
        </p:spPr>
      </p:pic>
      <p:sp>
        <p:nvSpPr>
          <p:cNvPr id="5" name="Text 2"/>
          <p:cNvSpPr txBox="1"/>
          <p:nvPr/>
        </p:nvSpPr>
        <p:spPr>
          <a:xfrm>
            <a:off x="1188720" y="1188720"/>
            <a:ext cx="2377440" cy="640080"/>
          </a:xfrm>
          <a:prstGeom prst="rect">
            <a:avLst/>
          </a:prstGeom>
          <a:noFill/>
          <a:ln/>
        </p:spPr>
        <p:txBody>
          <a:bodyPr wrap="square" lIns="0" tIns="0" rIns="0" bIns="0" rtlCol="0" anchor="ctr"/>
          <a:lstStyle/>
          <a:p>
            <a:pPr indent="0" marL="0">
              <a:buNone/>
            </a:pPr>
            <a:r>
              <a:rPr lang="en-US" sz="1500" b="1" dirty="0">
                <a:solidFill>
                  <a:srgbClr val="15201F"/>
                </a:solidFill>
                <a:latin typeface="Calibri" pitchFamily="34" charset="0"/>
                <a:ea typeface="Calibri" pitchFamily="34" charset="-122"/>
                <a:cs typeface="Calibri" pitchFamily="34" charset="-120"/>
              </a:rPr>
              <a:t>Thane West data</a:t>
            </a:r>
            <a:endParaRPr lang="en-US" sz="1500" dirty="0"/>
          </a:p>
        </p:txBody>
      </p:sp>
      <p:sp>
        <p:nvSpPr>
          <p:cNvPr id="6" name="Text 3"/>
          <p:cNvSpPr txBox="1"/>
          <p:nvPr/>
        </p:nvSpPr>
        <p:spPr>
          <a:xfrm>
            <a:off x="3566160" y="1188720"/>
            <a:ext cx="5120640" cy="640080"/>
          </a:xfrm>
          <a:prstGeom prst="rect">
            <a:avLst/>
          </a:prstGeom>
          <a:noFill/>
          <a:ln/>
        </p:spPr>
        <p:txBody>
          <a:bodyPr wrap="square" lIns="0" tIns="0" rIns="0" bIns="0" rtlCol="0" anchor="ctr"/>
          <a:lstStyle/>
          <a:p>
            <a:pPr indent="0" marL="0">
              <a:buNone/>
            </a:pPr>
            <a:r>
              <a:rPr lang="en-US" sz="1250" dirty="0">
                <a:solidFill>
                  <a:srgbClr val="5B6866"/>
                </a:solidFill>
                <a:latin typeface="Calibri" pitchFamily="34" charset="0"/>
                <a:ea typeface="Calibri" pitchFamily="34" charset="-122"/>
                <a:cs typeface="Calibri" pitchFamily="34" charset="-120"/>
              </a:rPr>
              <a:t>Pilot broker confirms map pins; wings, floors and flats per floor loaded (MahaRERA + site visits).</a:t>
            </a:r>
            <a:endParaRPr lang="en-US" sz="1250" dirty="0"/>
          </a:p>
        </p:txBody>
      </p:sp>
      <p:sp>
        <p:nvSpPr>
          <p:cNvPr id="7" name="Shape 4"/>
          <p:cNvSpPr/>
          <p:nvPr/>
        </p:nvSpPr>
        <p:spPr>
          <a:xfrm>
            <a:off x="457200" y="2130552"/>
            <a:ext cx="548640" cy="548640"/>
          </a:xfrm>
          <a:prstGeom prst="ellipse">
            <a:avLst/>
          </a:prstGeom>
          <a:solidFill>
            <a:srgbClr val="0E3B43"/>
          </a:solidFill>
          <a:ln/>
        </p:spPr>
      </p:sp>
      <p:pic>
        <p:nvPicPr>
          <p:cNvPr id="8" name="Image 1" descr="preencoded.png">    </p:cNvPr>
          <p:cNvPicPr>
            <a:picLocks noChangeAspect="1"/>
          </p:cNvPicPr>
          <p:nvPr/>
        </p:nvPicPr>
        <p:blipFill>
          <a:blip r:embed="rId2"/>
          <a:stretch>
            <a:fillRect/>
          </a:stretch>
        </p:blipFill>
        <p:spPr>
          <a:xfrm>
            <a:off x="588874" y="2262226"/>
            <a:ext cx="285293" cy="285293"/>
          </a:xfrm>
          <a:prstGeom prst="rect">
            <a:avLst/>
          </a:prstGeom>
        </p:spPr>
      </p:pic>
      <p:sp>
        <p:nvSpPr>
          <p:cNvPr id="9" name="Text 5"/>
          <p:cNvSpPr txBox="1"/>
          <p:nvPr/>
        </p:nvSpPr>
        <p:spPr>
          <a:xfrm>
            <a:off x="1188720" y="2084832"/>
            <a:ext cx="2377440" cy="640080"/>
          </a:xfrm>
          <a:prstGeom prst="rect">
            <a:avLst/>
          </a:prstGeom>
          <a:noFill/>
          <a:ln/>
        </p:spPr>
        <p:txBody>
          <a:bodyPr wrap="square" lIns="0" tIns="0" rIns="0" bIns="0" rtlCol="0" anchor="ctr"/>
          <a:lstStyle/>
          <a:p>
            <a:pPr indent="0" marL="0">
              <a:buNone/>
            </a:pPr>
            <a:r>
              <a:rPr lang="en-US" sz="1500" b="1" dirty="0">
                <a:solidFill>
                  <a:srgbClr val="15201F"/>
                </a:solidFill>
                <a:latin typeface="Calibri" pitchFamily="34" charset="0"/>
                <a:ea typeface="Calibri" pitchFamily="34" charset="-122"/>
                <a:cs typeface="Calibri" pitchFamily="34" charset="-120"/>
              </a:rPr>
              <a:t>Pilot broker live</a:t>
            </a:r>
            <a:endParaRPr lang="en-US" sz="1500" dirty="0"/>
          </a:p>
        </p:txBody>
      </p:sp>
      <p:sp>
        <p:nvSpPr>
          <p:cNvPr id="10" name="Text 6"/>
          <p:cNvSpPr txBox="1"/>
          <p:nvPr/>
        </p:nvSpPr>
        <p:spPr>
          <a:xfrm>
            <a:off x="3566160" y="2084832"/>
            <a:ext cx="5120640" cy="640080"/>
          </a:xfrm>
          <a:prstGeom prst="rect">
            <a:avLst/>
          </a:prstGeom>
          <a:noFill/>
          <a:ln/>
        </p:spPr>
        <p:txBody>
          <a:bodyPr wrap="square" lIns="0" tIns="0" rIns="0" bIns="0" rtlCol="0" anchor="ctr"/>
          <a:lstStyle/>
          <a:p>
            <a:pPr indent="0" marL="0">
              <a:buNone/>
            </a:pPr>
            <a:r>
              <a:rPr lang="en-US" sz="1250" dirty="0">
                <a:solidFill>
                  <a:srgbClr val="5B6866"/>
                </a:solidFill>
                <a:latin typeface="Calibri" pitchFamily="34" charset="0"/>
                <a:ea typeface="Calibri" pitchFamily="34" charset="-122"/>
                <a:cs typeface="Calibri" pitchFamily="34" charset="-120"/>
              </a:rPr>
              <a:t>Server in the cloud, real logins, Android app; iPhone via TestFlight.</a:t>
            </a:r>
            <a:endParaRPr lang="en-US" sz="1250" dirty="0"/>
          </a:p>
        </p:txBody>
      </p:sp>
      <p:sp>
        <p:nvSpPr>
          <p:cNvPr id="11" name="Shape 7"/>
          <p:cNvSpPr/>
          <p:nvPr/>
        </p:nvSpPr>
        <p:spPr>
          <a:xfrm>
            <a:off x="457200" y="3026664"/>
            <a:ext cx="548640" cy="548640"/>
          </a:xfrm>
          <a:prstGeom prst="ellipse">
            <a:avLst/>
          </a:prstGeom>
          <a:solidFill>
            <a:srgbClr val="0E3B43"/>
          </a:solidFill>
          <a:ln/>
        </p:spPr>
      </p:sp>
      <p:pic>
        <p:nvPicPr>
          <p:cNvPr id="12" name="Image 2" descr="preencoded.png">    </p:cNvPr>
          <p:cNvPicPr>
            <a:picLocks noChangeAspect="1"/>
          </p:cNvPicPr>
          <p:nvPr/>
        </p:nvPicPr>
        <p:blipFill>
          <a:blip r:embed="rId3"/>
          <a:stretch>
            <a:fillRect/>
          </a:stretch>
        </p:blipFill>
        <p:spPr>
          <a:xfrm>
            <a:off x="588874" y="3158338"/>
            <a:ext cx="285293" cy="285293"/>
          </a:xfrm>
          <a:prstGeom prst="rect">
            <a:avLst/>
          </a:prstGeom>
        </p:spPr>
      </p:pic>
      <p:sp>
        <p:nvSpPr>
          <p:cNvPr id="13" name="Text 8"/>
          <p:cNvSpPr txBox="1"/>
          <p:nvPr/>
        </p:nvSpPr>
        <p:spPr>
          <a:xfrm>
            <a:off x="1188720" y="2980944"/>
            <a:ext cx="2377440" cy="640080"/>
          </a:xfrm>
          <a:prstGeom prst="rect">
            <a:avLst/>
          </a:prstGeom>
          <a:noFill/>
          <a:ln/>
        </p:spPr>
        <p:txBody>
          <a:bodyPr wrap="square" lIns="0" tIns="0" rIns="0" bIns="0" rtlCol="0" anchor="ctr"/>
          <a:lstStyle/>
          <a:p>
            <a:pPr indent="0" marL="0">
              <a:buNone/>
            </a:pPr>
            <a:r>
              <a:rPr lang="en-US" sz="1500" b="1" dirty="0">
                <a:solidFill>
                  <a:srgbClr val="15201F"/>
                </a:solidFill>
                <a:latin typeface="Calibri" pitchFamily="34" charset="0"/>
                <a:ea typeface="Calibri" pitchFamily="34" charset="-122"/>
                <a:cs typeface="Calibri" pitchFamily="34" charset="-120"/>
              </a:rPr>
              <a:t>Real messages</a:t>
            </a:r>
            <a:endParaRPr lang="en-US" sz="1500" dirty="0"/>
          </a:p>
        </p:txBody>
      </p:sp>
      <p:sp>
        <p:nvSpPr>
          <p:cNvPr id="14" name="Text 9"/>
          <p:cNvSpPr txBox="1"/>
          <p:nvPr/>
        </p:nvSpPr>
        <p:spPr>
          <a:xfrm>
            <a:off x="3566160" y="2980944"/>
            <a:ext cx="5120640" cy="640080"/>
          </a:xfrm>
          <a:prstGeom prst="rect">
            <a:avLst/>
          </a:prstGeom>
          <a:noFill/>
          <a:ln/>
        </p:spPr>
        <p:txBody>
          <a:bodyPr wrap="square" lIns="0" tIns="0" rIns="0" bIns="0" rtlCol="0" anchor="ctr"/>
          <a:lstStyle/>
          <a:p>
            <a:pPr indent="0" marL="0">
              <a:buNone/>
            </a:pPr>
            <a:r>
              <a:rPr lang="en-US" sz="1250" dirty="0">
                <a:solidFill>
                  <a:srgbClr val="5B6866"/>
                </a:solidFill>
                <a:latin typeface="Calibri" pitchFamily="34" charset="0"/>
                <a:ea typeface="Calibri" pitchFamily="34" charset="-122"/>
                <a:cs typeface="Calibri" pitchFamily="34" charset="-120"/>
              </a:rPr>
              <a:t>DLT sender ID and templates, WhatsApp Business, Google Maps accounts.</a:t>
            </a:r>
            <a:endParaRPr lang="en-US" sz="1250" dirty="0"/>
          </a:p>
        </p:txBody>
      </p:sp>
      <p:sp>
        <p:nvSpPr>
          <p:cNvPr id="15" name="Shape 10"/>
          <p:cNvSpPr/>
          <p:nvPr/>
        </p:nvSpPr>
        <p:spPr>
          <a:xfrm>
            <a:off x="457200" y="3922776"/>
            <a:ext cx="548640" cy="548640"/>
          </a:xfrm>
          <a:prstGeom prst="ellipse">
            <a:avLst/>
          </a:prstGeom>
          <a:solidFill>
            <a:srgbClr val="0E3B43"/>
          </a:solidFill>
          <a:ln/>
        </p:spPr>
      </p:sp>
      <p:pic>
        <p:nvPicPr>
          <p:cNvPr id="16" name="Image 3" descr="preencoded.png">    </p:cNvPr>
          <p:cNvPicPr>
            <a:picLocks noChangeAspect="1"/>
          </p:cNvPicPr>
          <p:nvPr/>
        </p:nvPicPr>
        <p:blipFill>
          <a:blip r:embed="rId4"/>
          <a:stretch>
            <a:fillRect/>
          </a:stretch>
        </p:blipFill>
        <p:spPr>
          <a:xfrm>
            <a:off x="588874" y="4054450"/>
            <a:ext cx="285293" cy="285293"/>
          </a:xfrm>
          <a:prstGeom prst="rect">
            <a:avLst/>
          </a:prstGeom>
        </p:spPr>
      </p:pic>
      <p:sp>
        <p:nvSpPr>
          <p:cNvPr id="17" name="Text 11"/>
          <p:cNvSpPr txBox="1"/>
          <p:nvPr/>
        </p:nvSpPr>
        <p:spPr>
          <a:xfrm>
            <a:off x="1188720" y="3877056"/>
            <a:ext cx="2377440" cy="640080"/>
          </a:xfrm>
          <a:prstGeom prst="rect">
            <a:avLst/>
          </a:prstGeom>
          <a:noFill/>
          <a:ln/>
        </p:spPr>
        <p:txBody>
          <a:bodyPr wrap="square" lIns="0" tIns="0" rIns="0" bIns="0" rtlCol="0" anchor="ctr"/>
          <a:lstStyle/>
          <a:p>
            <a:pPr indent="0" marL="0">
              <a:buNone/>
            </a:pPr>
            <a:r>
              <a:rPr lang="en-US" sz="1500" b="1" dirty="0">
                <a:solidFill>
                  <a:srgbClr val="15201F"/>
                </a:solidFill>
                <a:latin typeface="Calibri" pitchFamily="34" charset="0"/>
                <a:ea typeface="Calibri" pitchFamily="34" charset="-122"/>
                <a:cs typeface="Calibri" pitchFamily="34" charset="-120"/>
              </a:rPr>
              <a:t>Measure &amp; price</a:t>
            </a:r>
            <a:endParaRPr lang="en-US" sz="1500" dirty="0"/>
          </a:p>
        </p:txBody>
      </p:sp>
      <p:sp>
        <p:nvSpPr>
          <p:cNvPr id="18" name="Text 12"/>
          <p:cNvSpPr txBox="1"/>
          <p:nvPr/>
        </p:nvSpPr>
        <p:spPr>
          <a:xfrm>
            <a:off x="3566160" y="3877056"/>
            <a:ext cx="5120640" cy="640080"/>
          </a:xfrm>
          <a:prstGeom prst="rect">
            <a:avLst/>
          </a:prstGeom>
          <a:noFill/>
          <a:ln/>
        </p:spPr>
        <p:txBody>
          <a:bodyPr wrap="square" lIns="0" tIns="0" rIns="0" bIns="0" rtlCol="0" anchor="ctr"/>
          <a:lstStyle/>
          <a:p>
            <a:pPr indent="0" marL="0">
              <a:buNone/>
            </a:pPr>
            <a:r>
              <a:rPr lang="en-US" sz="1250" dirty="0">
                <a:solidFill>
                  <a:srgbClr val="5B6866"/>
                </a:solidFill>
                <a:latin typeface="Calibri" pitchFamily="34" charset="0"/>
                <a:ea typeface="Calibri" pitchFamily="34" charset="-122"/>
                <a:cs typeface="Calibri" pitchFamily="34" charset="-120"/>
              </a:rPr>
              <a:t>Time per flat, stale listings, visits per deal, willingness to pay → pricing decision.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3B43"/>
        </a:solidFill>
      </p:bgPr>
    </p:bg>
    <p:spTree>
      <p:nvGrpSpPr>
        <p:cNvPr id="1" name=""/>
        <p:cNvGrpSpPr/>
        <p:nvPr/>
      </p:nvGrpSpPr>
      <p:grpSpPr>
        <a:xfrm>
          <a:off x="0" y="0"/>
          <a:ext cx="0" cy="0"/>
          <a:chOff x="0" y="0"/>
          <a:chExt cx="0" cy="0"/>
        </a:xfrm>
      </p:grpSpPr>
      <p:sp>
        <p:nvSpPr>
          <p:cNvPr id="2" name="Text 0"/>
          <p:cNvSpPr txBox="1"/>
          <p:nvPr/>
        </p:nvSpPr>
        <p:spPr>
          <a:xfrm>
            <a:off x="548640" y="822960"/>
            <a:ext cx="4572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it working</a:t>
            </a:r>
            <a:endParaRPr lang="en-US" sz="4000" dirty="0"/>
          </a:p>
        </p:txBody>
      </p:sp>
      <p:sp>
        <p:nvSpPr>
          <p:cNvPr id="3" name="Text 1"/>
          <p:cNvSpPr txBox="1"/>
          <p:nvPr/>
        </p:nvSpPr>
        <p:spPr>
          <a:xfrm>
            <a:off x="548640" y="1737360"/>
            <a:ext cx="4754880" cy="21945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Online demo (any phone or laptop)</a:t>
            </a:r>
            <a:endParaRPr lang="en-US" sz="1500" dirty="0"/>
          </a:p>
          <a:p>
            <a:pPr indent="0" marL="0">
              <a:buNone/>
            </a:pPr>
            <a:r>
              <a:rPr lang="en-US" sz="1500" dirty="0">
                <a:solidFill>
                  <a:srgbClr val="E8A33D"/>
                </a:solidFill>
                <a:latin typeface="Calibri" pitchFamily="34" charset="0"/>
                <a:ea typeface="Calibri" pitchFamily="34" charset="-122"/>
                <a:cs typeface="Calibri" pitchFamily="34" charset="-120"/>
              </a:rPr>
              <a:t>claude.ai/artifact/3ibs72K1zjuPdY2dF5rbXZ</a:t>
            </a:r>
            <a:endParaRPr lang="en-US" sz="15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Demo logins — OTP 123456</a:t>
            </a:r>
            <a:endParaRPr lang="en-US" sz="1500" dirty="0"/>
          </a:p>
          <a:p>
            <a:pPr indent="0" marL="0">
              <a:buNone/>
            </a:pPr>
            <a:r>
              <a:rPr lang="en-US" sz="1500" dirty="0">
                <a:solidFill>
                  <a:srgbClr val="DCEBE8"/>
                </a:solidFill>
                <a:latin typeface="Calibri" pitchFamily="34" charset="0"/>
                <a:ea typeface="Calibri" pitchFamily="34" charset="-122"/>
                <a:cs typeface="Calibri" pitchFamily="34" charset="-120"/>
              </a:rPr>
              <a:t>Broker 98200 00001 · Field staff 98200 10000</a:t>
            </a:r>
            <a:endParaRPr lang="en-US" sz="1500" dirty="0"/>
          </a:p>
          <a:p>
            <a:pPr indent="0" marL="0">
              <a:buNone/>
            </a:pPr>
            <a:r>
              <a:rPr lang="en-US" sz="1500" dirty="0">
                <a:solidFill>
                  <a:srgbClr val="DCEBE8"/>
                </a:solidFill>
                <a:latin typeface="Calibri" pitchFamily="34" charset="0"/>
                <a:ea typeface="Calibri" pitchFamily="34" charset="-122"/>
                <a:cs typeface="Calibri" pitchFamily="34" charset="-120"/>
              </a:rPr>
              <a:t>Owner 98200 20000 · Customer 98765 43210</a:t>
            </a:r>
            <a:endParaRPr lang="en-US" sz="1500" dirty="0"/>
          </a:p>
        </p:txBody>
      </p:sp>
      <p:sp>
        <p:nvSpPr>
          <p:cNvPr id="4" name="Text 2"/>
          <p:cNvSpPr txBox="1"/>
          <p:nvPr/>
        </p:nvSpPr>
        <p:spPr>
          <a:xfrm>
            <a:off x="548640" y="4206240"/>
            <a:ext cx="4754880" cy="365760"/>
          </a:xfrm>
          <a:prstGeom prst="rect">
            <a:avLst/>
          </a:prstGeom>
          <a:noFill/>
          <a:ln/>
        </p:spPr>
        <p:txBody>
          <a:bodyPr wrap="square" lIns="0" tIns="0" rIns="0" bIns="0" rtlCol="0" anchor="ctr"/>
          <a:lstStyle/>
          <a:p>
            <a:pPr indent="0" marL="0">
              <a:buNone/>
            </a:pPr>
            <a:r>
              <a:rPr lang="en-US" sz="1400" i="1" dirty="0">
                <a:solidFill>
                  <a:srgbClr val="DCEBE8"/>
                </a:solidFill>
                <a:latin typeface="Calibri" pitchFamily="34" charset="0"/>
                <a:ea typeface="Calibri" pitchFamily="34" charset="-122"/>
                <a:cs typeface="Calibri" pitchFamily="34" charset="-120"/>
              </a:rPr>
              <a:t>Only Broker — the broker is the driver.</a:t>
            </a:r>
            <a:endParaRPr lang="en-US" sz="1400" dirty="0"/>
          </a:p>
        </p:txBody>
      </p:sp>
      <p:sp>
        <p:nvSpPr>
          <p:cNvPr id="5" name="Shape 3"/>
          <p:cNvSpPr/>
          <p:nvPr/>
        </p:nvSpPr>
        <p:spPr>
          <a:xfrm>
            <a:off x="5888736" y="448056"/>
            <a:ext cx="2167128" cy="4224528"/>
          </a:xfrm>
          <a:prstGeom prst="roundRect">
            <a:avLst>
              <a:gd name="adj" fmla="val 5907"/>
            </a:avLst>
          </a:prstGeom>
          <a:solidFill>
            <a:srgbClr val="15201F"/>
          </a:solidFill>
          <a:ln/>
          <a:effectLst>
            <a:outerShdw sx="100000" sy="100000" kx="0" ky="0" algn="bl" rotWithShape="0" blurRad="101600" dist="38100" dir="5400000">
              <a:srgbClr val="000000">
                <a:alpha val="25000"/>
              </a:srgbClr>
            </a:outerShdw>
          </a:effectLst>
        </p:spPr>
      </p:sp>
      <p:pic>
        <p:nvPicPr>
          <p:cNvPr id="6" name="Image 0" descr="/tmp/claude-0/-home-user-SocietyManagement/f8f5daac-a2c6-5a71-ae45-d4f3c625db39/scratchpad/deck/img/login.jpg">    </p:cNvPr>
          <p:cNvPicPr>
            <a:picLocks noChangeAspect="1"/>
          </p:cNvPicPr>
          <p:nvPr/>
        </p:nvPicPr>
        <p:blipFill>
          <a:blip r:embed="rId1"/>
          <a:stretch>
            <a:fillRect/>
          </a:stretch>
        </p:blipFill>
        <p:spPr>
          <a:xfrm>
            <a:off x="5943600" y="502920"/>
            <a:ext cx="2057400" cy="4114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Only Broker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Only Broker</dc:title>
  <dc:subject>PptxGenJS Presentation</dc:subject>
  <dc:creator>PptxGenJS</dc:creator>
  <cp:lastModifiedBy>PptxGenJS</cp:lastModifiedBy>
  <cp:revision>1</cp:revision>
  <dcterms:created xsi:type="dcterms:W3CDTF">2026-09-24T14:22:38Z</dcterms:created>
  <dcterms:modified xsi:type="dcterms:W3CDTF">2026-09-24T14:22:38Z</dcterms:modified>
</cp:coreProperties>
</file>